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2.png" ContentType="image/png"/>
  <Override PartName="/ppt/media/image34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51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8.png" ContentType="image/png"/>
  <Override PartName="/ppt/media/image43.png" ContentType="image/png"/>
  <Override PartName="/ppt/media/image55.png" ContentType="image/png"/>
  <Override PartName="/ppt/media/image9.png" ContentType="image/png"/>
  <Override PartName="/ppt/media/image18.png" ContentType="image/png"/>
  <Override PartName="/ppt/media/image44.png" ContentType="image/png"/>
  <Override PartName="/ppt/media/image56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4.png" ContentType="image/png"/>
  <Override PartName="/ppt/media/image36.png" ContentType="image/png"/>
  <Override PartName="/ppt/media/image20.png" ContentType="image/png"/>
  <Override PartName="/ppt/media/image57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Cliquez pour déplacer la diapo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A7A77AA-CA08-4411-90B7-F628A5E64400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dt" idx="58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 type="ftr" idx="59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PlaceHolder 6"/>
          <p:cNvSpPr>
            <a:spLocks noGrp="1"/>
          </p:cNvSpPr>
          <p:nvPr>
            <p:ph type="sldNum" idx="60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dt" idx="61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5"/>
          <p:cNvSpPr>
            <a:spLocks noGrp="1"/>
          </p:cNvSpPr>
          <p:nvPr>
            <p:ph type="ftr" idx="62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PlaceHolder 6"/>
          <p:cNvSpPr>
            <a:spLocks noGrp="1"/>
          </p:cNvSpPr>
          <p:nvPr>
            <p:ph type="sldNum" idx="63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dt" idx="64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 type="ftr" idx="65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PlaceHolder 6"/>
          <p:cNvSpPr>
            <a:spLocks noGrp="1"/>
          </p:cNvSpPr>
          <p:nvPr>
            <p:ph type="sldNum" idx="66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dt" idx="6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5"/>
          <p:cNvSpPr>
            <a:spLocks noGrp="1"/>
          </p:cNvSpPr>
          <p:nvPr>
            <p:ph type="ftr" idx="6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PlaceHolder 6"/>
          <p:cNvSpPr>
            <a:spLocks noGrp="1"/>
          </p:cNvSpPr>
          <p:nvPr>
            <p:ph type="sldNum" idx="6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dt" idx="7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5"/>
          <p:cNvSpPr>
            <a:spLocks noGrp="1"/>
          </p:cNvSpPr>
          <p:nvPr>
            <p:ph type="ftr" idx="7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PlaceHolder 6"/>
          <p:cNvSpPr>
            <a:spLocks noGrp="1"/>
          </p:cNvSpPr>
          <p:nvPr>
            <p:ph type="sldNum" idx="7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dt" idx="7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5"/>
          <p:cNvSpPr>
            <a:spLocks noGrp="1"/>
          </p:cNvSpPr>
          <p:nvPr>
            <p:ph type="ftr" idx="7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PlaceHolder 6"/>
          <p:cNvSpPr>
            <a:spLocks noGrp="1"/>
          </p:cNvSpPr>
          <p:nvPr>
            <p:ph type="sldNum" idx="7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5DE92D-3FA6-4A66-91A5-156EB6F706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CFDCE4-6835-4C83-986D-6CC67FA1D2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2F603D0-41DC-4743-BC72-46FBF38B23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28DE598-CDC6-482B-983A-B46B18E168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2352C30-ED30-461F-B84B-D8D609D067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6C0E2B1-EC85-4B94-834E-BFD830F0B5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3B8E6A8-9F16-41EF-95FF-5C9E33F6AF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BE874DE-C75B-446A-8AEA-812E46CE6D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43D9B1D-4D7C-49A6-B43B-88EDE8CF4F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8404ECB-0449-4046-828B-01AB111847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0EA456A-5E83-44C8-B1F0-04331FA0B1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9BCB9-163D-4891-ACB2-20C2EF6258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290C24-27AC-4976-BF9D-52FEACB78B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FA44CB-0762-4C6D-AFDB-1092C885CC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1BED49-DC47-4164-97AC-500315C970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3F4293-6E9B-47BD-8975-8BBEA91F756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6F08CE-7183-4ABF-8E55-0D6AAD0B9E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D06A13-821D-4C7B-9F5D-69BCCD85C3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EAB42F-7F10-4E6C-A99B-F663865640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1ABE2-9A43-41B3-B1C1-B75C3A6EFE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94906E-E478-47F5-954B-3F1343F912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AA2BC3-D244-4493-B2D4-F4681BAC93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19.png"/><Relationship Id="rId13" Type="http://schemas.openxmlformats.org/officeDocument/2006/relationships/image" Target="../media/image16.png"/><Relationship Id="rId14" Type="http://schemas.openxmlformats.org/officeDocument/2006/relationships/image" Target="../media/image22.png"/><Relationship Id="rId15" Type="http://schemas.openxmlformats.org/officeDocument/2006/relationships/image" Target="../media/image19.png"/><Relationship Id="rId16" Type="http://schemas.openxmlformats.org/officeDocument/2006/relationships/image" Target="../media/image19.png"/><Relationship Id="rId17" Type="http://schemas.openxmlformats.org/officeDocument/2006/relationships/image" Target="../media/image16.png"/><Relationship Id="rId18" Type="http://schemas.openxmlformats.org/officeDocument/2006/relationships/image" Target="../media/image21.png"/><Relationship Id="rId19" Type="http://schemas.openxmlformats.org/officeDocument/2006/relationships/image" Target="../media/image21.png"/><Relationship Id="rId20" Type="http://schemas.openxmlformats.org/officeDocument/2006/relationships/image" Target="../media/image20.png"/><Relationship Id="rId21" Type="http://schemas.openxmlformats.org/officeDocument/2006/relationships/image" Target="../media/image19.png"/><Relationship Id="rId22" Type="http://schemas.openxmlformats.org/officeDocument/2006/relationships/image" Target="../media/image21.png"/><Relationship Id="rId23" Type="http://schemas.openxmlformats.org/officeDocument/2006/relationships/image" Target="../media/image21.png"/><Relationship Id="rId24" Type="http://schemas.openxmlformats.org/officeDocument/2006/relationships/image" Target="../media/image18.png"/><Relationship Id="rId25" Type="http://schemas.openxmlformats.org/officeDocument/2006/relationships/image" Target="../media/image19.png"/><Relationship Id="rId26" Type="http://schemas.openxmlformats.org/officeDocument/2006/relationships/image" Target="../media/image19.png"/><Relationship Id="rId27" Type="http://schemas.openxmlformats.org/officeDocument/2006/relationships/image" Target="../media/image21.png"/><Relationship Id="rId28" Type="http://schemas.openxmlformats.org/officeDocument/2006/relationships/image" Target="../media/image19.png"/><Relationship Id="rId29" Type="http://schemas.openxmlformats.org/officeDocument/2006/relationships/image" Target="../media/image21.png"/><Relationship Id="rId30" Type="http://schemas.openxmlformats.org/officeDocument/2006/relationships/image" Target="../media/image19.png"/><Relationship Id="rId31" Type="http://schemas.openxmlformats.org/officeDocument/2006/relationships/image" Target="../media/image19.png"/><Relationship Id="rId32" Type="http://schemas.openxmlformats.org/officeDocument/2006/relationships/image" Target="../media/image21.png"/><Relationship Id="rId33" Type="http://schemas.openxmlformats.org/officeDocument/2006/relationships/image" Target="../media/image19.png"/><Relationship Id="rId34" Type="http://schemas.openxmlformats.org/officeDocument/2006/relationships/image" Target="../media/image21.png"/><Relationship Id="rId35" Type="http://schemas.openxmlformats.org/officeDocument/2006/relationships/image" Target="../media/image20.png"/><Relationship Id="rId36" Type="http://schemas.openxmlformats.org/officeDocument/2006/relationships/image" Target="../media/image20.png"/><Relationship Id="rId37" Type="http://schemas.openxmlformats.org/officeDocument/2006/relationships/image" Target="../media/image22.png"/><Relationship Id="rId38" Type="http://schemas.openxmlformats.org/officeDocument/2006/relationships/image" Target="../media/image17.png"/><Relationship Id="rId39" Type="http://schemas.openxmlformats.org/officeDocument/2006/relationships/image" Target="../media/image21.png"/><Relationship Id="rId40" Type="http://schemas.openxmlformats.org/officeDocument/2006/relationships/image" Target="../media/image16.png"/><Relationship Id="rId41" Type="http://schemas.openxmlformats.org/officeDocument/2006/relationships/image" Target="../media/image16.png"/><Relationship Id="rId42" Type="http://schemas.openxmlformats.org/officeDocument/2006/relationships/image" Target="../media/image18.png"/><Relationship Id="rId43" Type="http://schemas.openxmlformats.org/officeDocument/2006/relationships/image" Target="../media/image16.png"/><Relationship Id="rId44" Type="http://schemas.openxmlformats.org/officeDocument/2006/relationships/image" Target="../media/image18.png"/><Relationship Id="rId45" Type="http://schemas.openxmlformats.org/officeDocument/2006/relationships/slideLayout" Target="../slideLayouts/slideLayout9.xml"/><Relationship Id="rId4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3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49.png"/><Relationship Id="rId5" Type="http://schemas.openxmlformats.org/officeDocument/2006/relationships/image" Target="../media/image49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3.png"/><Relationship Id="rId7" Type="http://schemas.openxmlformats.org/officeDocument/2006/relationships/image" Target="../media/image53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2"/>
          <p:cNvGrpSpPr/>
          <p:nvPr/>
        </p:nvGrpSpPr>
        <p:grpSpPr>
          <a:xfrm>
            <a:off x="12573000" y="-2857680"/>
            <a:ext cx="7143480" cy="7143480"/>
            <a:chOff x="12573000" y="-2857680"/>
            <a:chExt cx="7143480" cy="7143480"/>
          </a:xfrm>
        </p:grpSpPr>
        <p:sp>
          <p:nvSpPr>
            <p:cNvPr id="74" name="Freeform 3"/>
            <p:cNvSpPr/>
            <p:nvPr/>
          </p:nvSpPr>
          <p:spPr>
            <a:xfrm>
              <a:off x="12573000" y="-2857680"/>
              <a:ext cx="7143480" cy="7143480"/>
            </a:xfrm>
            <a:custGeom>
              <a:avLst/>
              <a:gdLst>
                <a:gd name="textAreaLeft" fmla="*/ 0 w 7143480"/>
                <a:gd name="textAreaRight" fmla="*/ 7143840 w 7143480"/>
                <a:gd name="textAreaTop" fmla="*/ 0 h 7143480"/>
                <a:gd name="textAreaBottom" fmla="*/ 7143840 h 7143480"/>
              </a:gdLst>
              <a:ahLst/>
              <a:rect l="textAreaLeft" t="textAreaTop" r="textAreaRight" b="textAreaBottom"/>
              <a:pathLst>
                <a:path w="9525000" h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" name="Group 4"/>
          <p:cNvGrpSpPr/>
          <p:nvPr/>
        </p:nvGrpSpPr>
        <p:grpSpPr>
          <a:xfrm>
            <a:off x="-1428840" y="6715080"/>
            <a:ext cx="5714640" cy="5714640"/>
            <a:chOff x="-1428840" y="6715080"/>
            <a:chExt cx="5714640" cy="5714640"/>
          </a:xfrm>
        </p:grpSpPr>
        <p:sp>
          <p:nvSpPr>
            <p:cNvPr id="76" name="Freeform 5"/>
            <p:cNvSpPr/>
            <p:nvPr/>
          </p:nvSpPr>
          <p:spPr>
            <a:xfrm>
              <a:off x="-1428840" y="6715080"/>
              <a:ext cx="5714640" cy="5714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5714640"/>
                <a:gd name="textAreaBottom" fmla="*/ 5715000 h 5714640"/>
              </a:gdLst>
              <a:ahLst/>
              <a:rect l="textAreaLeft" t="textAreaTop" r="textAreaRight" b="textAreaBottom"/>
              <a:pathLst>
                <a:path w="7620000" h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" name="Group 6"/>
          <p:cNvGrpSpPr/>
          <p:nvPr/>
        </p:nvGrpSpPr>
        <p:grpSpPr>
          <a:xfrm>
            <a:off x="6150600" y="6159240"/>
            <a:ext cx="5986080" cy="1285560"/>
            <a:chOff x="6150600" y="6159240"/>
            <a:chExt cx="5986080" cy="1285560"/>
          </a:xfrm>
        </p:grpSpPr>
        <p:sp>
          <p:nvSpPr>
            <p:cNvPr id="78" name="Freeform 7"/>
            <p:cNvSpPr/>
            <p:nvPr/>
          </p:nvSpPr>
          <p:spPr>
            <a:xfrm>
              <a:off x="6150600" y="6159240"/>
              <a:ext cx="5986080" cy="1285560"/>
            </a:xfrm>
            <a:custGeom>
              <a:avLst/>
              <a:gdLst>
                <a:gd name="textAreaLeft" fmla="*/ 0 w 5986080"/>
                <a:gd name="textAreaRight" fmla="*/ 5986440 w 5986080"/>
                <a:gd name="textAreaTop" fmla="*/ 0 h 1285560"/>
                <a:gd name="textAreaBottom" fmla="*/ 1285920 h 1285560"/>
              </a:gdLst>
              <a:ahLst/>
              <a:rect l="textAreaLeft" t="textAreaTop" r="textAreaRight" b="textAreaBottom"/>
              <a:pathLst>
                <a:path w="7981950" h="1714500">
                  <a:moveTo>
                    <a:pt x="0" y="0"/>
                  </a:moveTo>
                  <a:lnTo>
                    <a:pt x="7981950" y="0"/>
                  </a:lnTo>
                  <a:lnTo>
                    <a:pt x="798195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9" name="TextBox 8"/>
          <p:cNvSpPr/>
          <p:nvPr/>
        </p:nvSpPr>
        <p:spPr>
          <a:xfrm>
            <a:off x="7136640" y="2841840"/>
            <a:ext cx="40143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888"/>
              </a:lnSpc>
            </a:pPr>
            <a:r>
              <a:rPr b="0" lang="en-US" sz="1580" spc="-1" strike="noStrike">
                <a:solidFill>
                  <a:srgbClr val="e2e8f0"/>
                </a:solidFill>
                <a:latin typeface="Inter"/>
                <a:ea typeface="Inter"/>
              </a:rPr>
              <a:t>ORANGE SUMMER CHALLENGE</a:t>
            </a:r>
            <a:endParaRPr b="0" lang="fr-FR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5911200" y="3065760"/>
            <a:ext cx="646560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692"/>
              </a:lnSpc>
            </a:pPr>
            <a:r>
              <a:rPr b="1" lang="en-US" sz="8100" spc="-1" strike="noStrike">
                <a:solidFill>
                  <a:srgbClr val="ff6b00"/>
                </a:solidFill>
                <a:latin typeface="Poppins Bold"/>
                <a:ea typeface="Poppins Bold"/>
              </a:rPr>
              <a:t>LocaTech AI</a:t>
            </a:r>
            <a:endParaRPr b="0" lang="fr-FR" sz="8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071880" y="4492440"/>
            <a:ext cx="12143880" cy="11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56"/>
              </a:lnSpc>
            </a:pPr>
            <a:r>
              <a:rPr b="0" lang="en-US" sz="2470" spc="-1" strike="noStrike">
                <a:solidFill>
                  <a:srgbClr val="94a3b8"/>
                </a:solidFill>
                <a:latin typeface="Inter"/>
                <a:ea typeface="Inter"/>
              </a:rPr>
              <a:t>Plateforme SaaS intelligente de gestion de location de matériels pour PME, agences événementielles et entreprises de services.</a:t>
            </a:r>
            <a:endParaRPr b="0" lang="fr-FR" sz="2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6736320" y="6619320"/>
            <a:ext cx="481464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701"/>
              </a:lnSpc>
            </a:pPr>
            <a:r>
              <a:rPr b="0" lang="en-US" sz="2250" spc="-1" strike="noStrike">
                <a:solidFill>
                  <a:srgbClr val="ffffff"/>
                </a:solidFill>
                <a:latin typeface="Inter"/>
                <a:ea typeface="Inter"/>
              </a:rPr>
              <a:t>RAKOTOARINOSY Fehizoro Andry</a:t>
            </a:r>
            <a:endParaRPr b="0" lang="fr-FR" sz="2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2"/>
          <p:cNvGrpSpPr/>
          <p:nvPr/>
        </p:nvGrpSpPr>
        <p:grpSpPr>
          <a:xfrm>
            <a:off x="12573000" y="-2857680"/>
            <a:ext cx="7143480" cy="7143480"/>
            <a:chOff x="12573000" y="-2857680"/>
            <a:chExt cx="7143480" cy="7143480"/>
          </a:xfrm>
        </p:grpSpPr>
        <p:sp>
          <p:nvSpPr>
            <p:cNvPr id="84" name="Freeform 3"/>
            <p:cNvSpPr/>
            <p:nvPr/>
          </p:nvSpPr>
          <p:spPr>
            <a:xfrm>
              <a:off x="12573000" y="-2857680"/>
              <a:ext cx="7143480" cy="7143480"/>
            </a:xfrm>
            <a:custGeom>
              <a:avLst/>
              <a:gdLst>
                <a:gd name="textAreaLeft" fmla="*/ 0 w 7143480"/>
                <a:gd name="textAreaRight" fmla="*/ 7143840 w 7143480"/>
                <a:gd name="textAreaTop" fmla="*/ 0 h 7143480"/>
                <a:gd name="textAreaBottom" fmla="*/ 7143840 h 7143480"/>
              </a:gdLst>
              <a:ahLst/>
              <a:rect l="textAreaLeft" t="textAreaTop" r="textAreaRight" b="textAreaBottom"/>
              <a:pathLst>
                <a:path w="9525000" h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" name="Group 4"/>
          <p:cNvGrpSpPr/>
          <p:nvPr/>
        </p:nvGrpSpPr>
        <p:grpSpPr>
          <a:xfrm>
            <a:off x="1143000" y="6266160"/>
            <a:ext cx="7714800" cy="999720"/>
            <a:chOff x="1143000" y="6266160"/>
            <a:chExt cx="7714800" cy="999720"/>
          </a:xfrm>
        </p:grpSpPr>
        <p:sp>
          <p:nvSpPr>
            <p:cNvPr id="86" name="Freeform 5"/>
            <p:cNvSpPr/>
            <p:nvPr/>
          </p:nvSpPr>
          <p:spPr>
            <a:xfrm>
              <a:off x="1143000" y="6266160"/>
              <a:ext cx="7714800" cy="999720"/>
            </a:xfrm>
            <a:custGeom>
              <a:avLst/>
              <a:gdLst>
                <a:gd name="textAreaLeft" fmla="*/ 0 w 7714800"/>
                <a:gd name="textAreaRight" fmla="*/ 7715160 w 7714800"/>
                <a:gd name="textAreaTop" fmla="*/ 0 h 999720"/>
                <a:gd name="textAreaBottom" fmla="*/ 1000080 h 999720"/>
              </a:gdLst>
              <a:ahLst/>
              <a:rect l="textAreaLeft" t="textAreaTop" r="textAreaRight" b="textAreaBottom"/>
              <a:pathLst>
                <a:path w="10287000" h="1333500">
                  <a:moveTo>
                    <a:pt x="0" y="0"/>
                  </a:moveTo>
                  <a:lnTo>
                    <a:pt x="10287000" y="0"/>
                  </a:lnTo>
                  <a:lnTo>
                    <a:pt x="1028700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7" name="TextBox 6"/>
          <p:cNvSpPr/>
          <p:nvPr/>
        </p:nvSpPr>
        <p:spPr>
          <a:xfrm>
            <a:off x="1428840" y="666720"/>
            <a:ext cx="517536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La Problématique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8" name="Group 7"/>
          <p:cNvGrpSpPr/>
          <p:nvPr/>
        </p:nvGrpSpPr>
        <p:grpSpPr>
          <a:xfrm>
            <a:off x="15301800" y="921600"/>
            <a:ext cx="1842840" cy="399600"/>
            <a:chOff x="15301800" y="921600"/>
            <a:chExt cx="1842840" cy="399600"/>
          </a:xfrm>
        </p:grpSpPr>
        <p:sp>
          <p:nvSpPr>
            <p:cNvPr id="89" name="Freeform 8"/>
            <p:cNvSpPr/>
            <p:nvPr/>
          </p:nvSpPr>
          <p:spPr>
            <a:xfrm>
              <a:off x="15301800" y="921600"/>
              <a:ext cx="1842840" cy="399600"/>
            </a:xfrm>
            <a:custGeom>
              <a:avLst/>
              <a:gdLst>
                <a:gd name="textAreaLeft" fmla="*/ 0 w 1842840"/>
                <a:gd name="textAreaRight" fmla="*/ 1843200 w 184284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2457450" h="533400">
                  <a:moveTo>
                    <a:pt x="0" y="0"/>
                  </a:moveTo>
                  <a:lnTo>
                    <a:pt x="2457450" y="0"/>
                  </a:lnTo>
                  <a:lnTo>
                    <a:pt x="24574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" name="Group 9"/>
          <p:cNvGrpSpPr/>
          <p:nvPr/>
        </p:nvGrpSpPr>
        <p:grpSpPr>
          <a:xfrm>
            <a:off x="1100160" y="751680"/>
            <a:ext cx="85320" cy="569520"/>
            <a:chOff x="1100160" y="751680"/>
            <a:chExt cx="85320" cy="569520"/>
          </a:xfrm>
        </p:grpSpPr>
        <p:sp>
          <p:nvSpPr>
            <p:cNvPr id="91" name="Freeform 10"/>
            <p:cNvSpPr/>
            <p:nvPr/>
          </p:nvSpPr>
          <p:spPr>
            <a:xfrm>
              <a:off x="1100160" y="75168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2" name="TextBox 11"/>
          <p:cNvSpPr/>
          <p:nvPr/>
        </p:nvSpPr>
        <p:spPr>
          <a:xfrm>
            <a:off x="1143000" y="4120560"/>
            <a:ext cx="7714800" cy="19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86"/>
              </a:lnSpc>
            </a:pPr>
            <a:r>
              <a:rPr b="0" lang="en-US" sz="2020" spc="-1" strike="noStrike">
                <a:solidFill>
                  <a:srgbClr val="475569"/>
                </a:solidFill>
                <a:latin typeface="Inter"/>
                <a:ea typeface="Inter"/>
              </a:rPr>
              <a:t>Aujourd'hui, l'immense majorité des PME de location gèrent encore leurs stocks, réservations et retours via des méthodes artisanales : </a:t>
            </a:r>
            <a:r>
              <a:rPr b="1" lang="en-US" sz="2020" spc="-1" strike="noStrike">
                <a:solidFill>
                  <a:srgbClr val="475569"/>
                </a:solidFill>
                <a:latin typeface="Inter Bold"/>
                <a:ea typeface="Inter Bold"/>
              </a:rPr>
              <a:t>Excel, carnets papier ou discussions WhatsApp</a:t>
            </a:r>
            <a:r>
              <a:rPr b="0" lang="en-US" sz="2020" spc="-1" strike="noStrike">
                <a:solidFill>
                  <a:srgbClr val="475569"/>
                </a:solidFill>
                <a:latin typeface="Inter"/>
                <a:ea typeface="Inter"/>
              </a:rPr>
              <a:t> décousues.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2"/>
          <p:cNvSpPr/>
          <p:nvPr/>
        </p:nvSpPr>
        <p:spPr>
          <a:xfrm>
            <a:off x="1500120" y="6480360"/>
            <a:ext cx="70718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60"/>
              </a:lnSpc>
            </a:pPr>
            <a:r>
              <a:rPr b="0" lang="en-US" sz="1800" spc="-1" strike="noStrike">
                <a:solidFill>
                  <a:srgbClr val="ff6b00"/>
                </a:solidFill>
                <a:latin typeface="Inter"/>
                <a:ea typeface="Inter"/>
              </a:rPr>
              <a:t>Un processus archaïque qui limite grandement la croissance et la rentabilité.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4" name="Group 13"/>
          <p:cNvGrpSpPr/>
          <p:nvPr/>
        </p:nvGrpSpPr>
        <p:grpSpPr>
          <a:xfrm>
            <a:off x="9729720" y="4296240"/>
            <a:ext cx="285480" cy="285480"/>
            <a:chOff x="9729720" y="4296240"/>
            <a:chExt cx="285480" cy="285480"/>
          </a:xfrm>
        </p:grpSpPr>
        <p:sp>
          <p:nvSpPr>
            <p:cNvPr id="95" name="Freeform 14"/>
            <p:cNvSpPr/>
            <p:nvPr/>
          </p:nvSpPr>
          <p:spPr>
            <a:xfrm>
              <a:off x="9729720" y="429624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" name="Group 15"/>
          <p:cNvGrpSpPr/>
          <p:nvPr/>
        </p:nvGrpSpPr>
        <p:grpSpPr>
          <a:xfrm>
            <a:off x="9729720" y="5621760"/>
            <a:ext cx="285480" cy="285480"/>
            <a:chOff x="9729720" y="5621760"/>
            <a:chExt cx="285480" cy="285480"/>
          </a:xfrm>
        </p:grpSpPr>
        <p:sp>
          <p:nvSpPr>
            <p:cNvPr id="97" name="Freeform 16"/>
            <p:cNvSpPr/>
            <p:nvPr/>
          </p:nvSpPr>
          <p:spPr>
            <a:xfrm>
              <a:off x="9729720" y="562176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8" name="TextBox 17"/>
          <p:cNvSpPr/>
          <p:nvPr/>
        </p:nvSpPr>
        <p:spPr>
          <a:xfrm>
            <a:off x="10229760" y="4083480"/>
            <a:ext cx="5010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24"/>
              </a:lnSpc>
            </a:pPr>
            <a:r>
              <a:rPr b="1" lang="en-US" sz="1679" spc="-1" strike="noStrike">
                <a:solidFill>
                  <a:srgbClr val="0f172a"/>
                </a:solidFill>
                <a:latin typeface="Poppins Bold"/>
                <a:ea typeface="Poppins Bold"/>
              </a:rPr>
              <a:t>Erreurs de réservation récurrentes</a:t>
            </a:r>
            <a:endParaRPr b="0" lang="fr-F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8"/>
          <p:cNvSpPr/>
          <p:nvPr/>
        </p:nvSpPr>
        <p:spPr>
          <a:xfrm>
            <a:off x="10229760" y="4364280"/>
            <a:ext cx="4771800" cy="3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809"/>
              </a:lnSpc>
            </a:pPr>
            <a:r>
              <a:rPr b="0" lang="en-US" sz="1460" spc="-1" strike="noStrike">
                <a:solidFill>
                  <a:srgbClr val="475569"/>
                </a:solidFill>
                <a:latin typeface="Inter"/>
                <a:ea typeface="Inter"/>
              </a:rPr>
              <a:t>Double attribution, indisponibilité de matériel le jour J.</a:t>
            </a:r>
            <a:endParaRPr b="0" lang="fr-FR" sz="14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9"/>
          <p:cNvSpPr/>
          <p:nvPr/>
        </p:nvSpPr>
        <p:spPr>
          <a:xfrm>
            <a:off x="10229760" y="5409000"/>
            <a:ext cx="4920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24"/>
              </a:lnSpc>
            </a:pPr>
            <a:r>
              <a:rPr b="1" lang="en-US" sz="1679" spc="-1" strike="noStrike">
                <a:solidFill>
                  <a:srgbClr val="0f172a"/>
                </a:solidFill>
                <a:latin typeface="Poppins Bold"/>
                <a:ea typeface="Poppins Bold"/>
              </a:rPr>
              <a:t>Gestion des retours inefficace</a:t>
            </a:r>
            <a:endParaRPr b="0" lang="fr-F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0"/>
          <p:cNvSpPr/>
          <p:nvPr/>
        </p:nvSpPr>
        <p:spPr>
          <a:xfrm>
            <a:off x="10229760" y="5690160"/>
            <a:ext cx="4686120" cy="3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809"/>
              </a:lnSpc>
            </a:pPr>
            <a:r>
              <a:rPr b="0" lang="en-US" sz="1460" spc="-1" strike="noStrike">
                <a:solidFill>
                  <a:srgbClr val="475569"/>
                </a:solidFill>
                <a:latin typeface="Inter"/>
                <a:ea typeface="Inter"/>
              </a:rPr>
              <a:t>Retards de rendu non facturés et pertes de matériel.</a:t>
            </a:r>
            <a:endParaRPr b="0" lang="fr-FR" sz="14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21"/>
          <p:cNvSpPr/>
          <p:nvPr/>
        </p:nvSpPr>
        <p:spPr>
          <a:xfrm>
            <a:off x="9944280" y="6734880"/>
            <a:ext cx="61052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024"/>
              </a:lnSpc>
            </a:pPr>
            <a:r>
              <a:rPr b="1" lang="en-US" sz="1679" spc="-1" strike="noStrike">
                <a:solidFill>
                  <a:srgbClr val="0f172a"/>
                </a:solidFill>
                <a:latin typeface="Poppins Bold"/>
                <a:ea typeface="Poppins Bold"/>
              </a:rPr>
              <a:t>Absence de visibilité financière</a:t>
            </a:r>
            <a:endParaRPr b="0" lang="fr-F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22"/>
          <p:cNvSpPr/>
          <p:nvPr/>
        </p:nvSpPr>
        <p:spPr>
          <a:xfrm>
            <a:off x="9944280" y="7016040"/>
            <a:ext cx="5814720" cy="3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809"/>
              </a:lnSpc>
            </a:pPr>
            <a:r>
              <a:rPr b="0" lang="en-US" sz="1460" spc="-1" strike="noStrike">
                <a:solidFill>
                  <a:srgbClr val="475569"/>
                </a:solidFill>
                <a:latin typeface="Inter"/>
                <a:ea typeface="Inter"/>
              </a:rPr>
              <a:t>Aucun suivi en temps réel du chiffre d'affaires et de la rentabilité.</a:t>
            </a:r>
            <a:endParaRPr b="0" lang="fr-FR" sz="14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2"/>
          <p:cNvGrpSpPr/>
          <p:nvPr/>
        </p:nvGrpSpPr>
        <p:grpSpPr>
          <a:xfrm>
            <a:off x="-1428840" y="6715080"/>
            <a:ext cx="5714640" cy="5714640"/>
            <a:chOff x="-1428840" y="6715080"/>
            <a:chExt cx="5714640" cy="5714640"/>
          </a:xfrm>
        </p:grpSpPr>
        <p:sp>
          <p:nvSpPr>
            <p:cNvPr id="105" name="Freeform 3"/>
            <p:cNvSpPr/>
            <p:nvPr/>
          </p:nvSpPr>
          <p:spPr>
            <a:xfrm>
              <a:off x="-1428840" y="6715080"/>
              <a:ext cx="5714640" cy="5714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5714640"/>
                <a:gd name="textAreaBottom" fmla="*/ 5715000 h 5714640"/>
              </a:gdLst>
              <a:ahLst/>
              <a:rect l="textAreaLeft" t="textAreaTop" r="textAreaRight" b="textAreaBottom"/>
              <a:pathLst>
                <a:path w="7620000" h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" name="Group 4"/>
          <p:cNvGrpSpPr/>
          <p:nvPr/>
        </p:nvGrpSpPr>
        <p:grpSpPr>
          <a:xfrm>
            <a:off x="9429840" y="4287960"/>
            <a:ext cx="7714800" cy="2954160"/>
            <a:chOff x="9429840" y="4287960"/>
            <a:chExt cx="7714800" cy="2954160"/>
          </a:xfrm>
        </p:grpSpPr>
        <p:sp>
          <p:nvSpPr>
            <p:cNvPr id="107" name="Freeform 5"/>
            <p:cNvSpPr/>
            <p:nvPr/>
          </p:nvSpPr>
          <p:spPr>
            <a:xfrm>
              <a:off x="9429840" y="4287960"/>
              <a:ext cx="7714800" cy="2954160"/>
            </a:xfrm>
            <a:custGeom>
              <a:avLst/>
              <a:gdLst>
                <a:gd name="textAreaLeft" fmla="*/ 0 w 7714800"/>
                <a:gd name="textAreaRight" fmla="*/ 7715160 w 7714800"/>
                <a:gd name="textAreaTop" fmla="*/ 0 h 2954160"/>
                <a:gd name="textAreaBottom" fmla="*/ 2954520 h 2954160"/>
              </a:gdLst>
              <a:ahLst/>
              <a:rect l="textAreaLeft" t="textAreaTop" r="textAreaRight" b="textAreaBottom"/>
              <a:pathLst>
                <a:path w="10287000" h="3939159">
                  <a:moveTo>
                    <a:pt x="0" y="0"/>
                  </a:moveTo>
                  <a:lnTo>
                    <a:pt x="10287000" y="0"/>
                  </a:lnTo>
                  <a:lnTo>
                    <a:pt x="10287000" y="3939159"/>
                  </a:lnTo>
                  <a:lnTo>
                    <a:pt x="0" y="393915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8" name="TextBox 6"/>
          <p:cNvSpPr/>
          <p:nvPr/>
        </p:nvSpPr>
        <p:spPr>
          <a:xfrm>
            <a:off x="1428840" y="666720"/>
            <a:ext cx="412524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Notre Solution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9" name="Group 7"/>
          <p:cNvGrpSpPr/>
          <p:nvPr/>
        </p:nvGrpSpPr>
        <p:grpSpPr>
          <a:xfrm>
            <a:off x="14316120" y="921600"/>
            <a:ext cx="2828520" cy="399600"/>
            <a:chOff x="14316120" y="921600"/>
            <a:chExt cx="2828520" cy="399600"/>
          </a:xfrm>
        </p:grpSpPr>
        <p:sp>
          <p:nvSpPr>
            <p:cNvPr id="110" name="Freeform 8"/>
            <p:cNvSpPr/>
            <p:nvPr/>
          </p:nvSpPr>
          <p:spPr>
            <a:xfrm>
              <a:off x="14316120" y="921600"/>
              <a:ext cx="2828520" cy="399600"/>
            </a:xfrm>
            <a:custGeom>
              <a:avLst/>
              <a:gdLst>
                <a:gd name="textAreaLeft" fmla="*/ 0 w 2828520"/>
                <a:gd name="textAreaRight" fmla="*/ 2828880 w 282852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3771900" h="533400">
                  <a:moveTo>
                    <a:pt x="0" y="0"/>
                  </a:moveTo>
                  <a:lnTo>
                    <a:pt x="3771900" y="0"/>
                  </a:lnTo>
                  <a:lnTo>
                    <a:pt x="37719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" name="Group 9"/>
          <p:cNvGrpSpPr/>
          <p:nvPr/>
        </p:nvGrpSpPr>
        <p:grpSpPr>
          <a:xfrm>
            <a:off x="1057320" y="743760"/>
            <a:ext cx="85320" cy="569520"/>
            <a:chOff x="1057320" y="743760"/>
            <a:chExt cx="85320" cy="569520"/>
          </a:xfrm>
        </p:grpSpPr>
        <p:sp>
          <p:nvSpPr>
            <p:cNvPr id="112" name="Freeform 10"/>
            <p:cNvSpPr/>
            <p:nvPr/>
          </p:nvSpPr>
          <p:spPr>
            <a:xfrm>
              <a:off x="1057320" y="74376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3" name="TextBox 11"/>
          <p:cNvSpPr/>
          <p:nvPr/>
        </p:nvSpPr>
        <p:spPr>
          <a:xfrm>
            <a:off x="10001160" y="4830840"/>
            <a:ext cx="690048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0"/>
              </a:lnSpc>
            </a:pPr>
            <a:r>
              <a:rPr b="1" lang="en-US" sz="2700" spc="-1" strike="noStrike">
                <a:solidFill>
                  <a:srgbClr val="ff6b00"/>
                </a:solidFill>
                <a:latin typeface="Poppins Bold"/>
                <a:ea typeface="Poppins Bold"/>
              </a:rPr>
              <a:t>Notre Objectif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10001160" y="5450040"/>
            <a:ext cx="65718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55"/>
              </a:lnSpc>
            </a:pPr>
            <a:r>
              <a:rPr b="0" lang="en-US" sz="1800" spc="-1" strike="noStrike">
                <a:solidFill>
                  <a:srgbClr val="e2e8f0"/>
                </a:solidFill>
                <a:latin typeface="Inter"/>
                <a:ea typeface="Inter"/>
              </a:rPr>
              <a:t>Digitaliser totalement le cycle de location de bout en bout pour permettre aux entreprises de gagner jusqu'à </a:t>
            </a:r>
            <a:r>
              <a:rPr b="1" lang="en-US" sz="1800" spc="-1" strike="noStrike">
                <a:solidFill>
                  <a:srgbClr val="e2e8f0"/>
                </a:solidFill>
                <a:latin typeface="Inter Bold"/>
                <a:ea typeface="Inter Bold"/>
              </a:rPr>
              <a:t>15 heures de gestion administrative</a:t>
            </a:r>
            <a:r>
              <a:rPr b="0" lang="en-US" sz="1800" spc="-1" strike="noStrike">
                <a:solidFill>
                  <a:srgbClr val="e2e8f0"/>
                </a:solidFill>
                <a:latin typeface="Inter"/>
                <a:ea typeface="Inter"/>
              </a:rPr>
              <a:t> par semaine.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3"/>
          <p:cNvSpPr/>
          <p:nvPr/>
        </p:nvSpPr>
        <p:spPr>
          <a:xfrm>
            <a:off x="1785960" y="3390840"/>
            <a:ext cx="7071840" cy="13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5"/>
              </a:lnSpc>
            </a:pPr>
            <a:r>
              <a:rPr b="1" lang="en-US" sz="2020" spc="-1" strike="noStrike">
                <a:solidFill>
                  <a:srgbClr val="334155"/>
                </a:solidFill>
                <a:latin typeface="Inter Bold"/>
                <a:ea typeface="Inter Bold"/>
              </a:rPr>
              <a:t>Centralisation complète :</a:t>
            </a:r>
            <a:r>
              <a:rPr b="0" lang="en-US" sz="2020" spc="-1" strike="noStrike">
                <a:solidFill>
                  <a:srgbClr val="334155"/>
                </a:solidFill>
                <a:latin typeface="Inter"/>
                <a:ea typeface="Inter"/>
              </a:rPr>
              <a:t> Un espace unique pour gérer vos clients, matériels, réservations et facturation sans friction.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4"/>
          <p:cNvSpPr/>
          <p:nvPr/>
        </p:nvSpPr>
        <p:spPr>
          <a:xfrm>
            <a:off x="1785960" y="4890960"/>
            <a:ext cx="7071840" cy="13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5"/>
              </a:lnSpc>
            </a:pPr>
            <a:r>
              <a:rPr b="1" lang="en-US" sz="2020" spc="-1" strike="noStrike">
                <a:solidFill>
                  <a:srgbClr val="334155"/>
                </a:solidFill>
                <a:latin typeface="Inter Bold"/>
                <a:ea typeface="Inter Bold"/>
              </a:rPr>
              <a:t>Automatisation des processus :</a:t>
            </a:r>
            <a:r>
              <a:rPr b="0" lang="en-US" sz="2020" spc="-1" strike="noStrike">
                <a:solidFill>
                  <a:srgbClr val="334155"/>
                </a:solidFill>
                <a:latin typeface="Inter"/>
                <a:ea typeface="Inter"/>
              </a:rPr>
              <a:t> Génération de factures PDF, calcul des pénalités de retard et relances automatisées.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5"/>
          <p:cNvSpPr/>
          <p:nvPr/>
        </p:nvSpPr>
        <p:spPr>
          <a:xfrm>
            <a:off x="1785960" y="6391440"/>
            <a:ext cx="7071840" cy="13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5"/>
              </a:lnSpc>
            </a:pPr>
            <a:r>
              <a:rPr b="1" lang="en-US" sz="2020" spc="-1" strike="noStrike">
                <a:solidFill>
                  <a:srgbClr val="334155"/>
                </a:solidFill>
                <a:latin typeface="Inter Bold"/>
                <a:ea typeface="Inter Bold"/>
              </a:rPr>
              <a:t>Intelligence Embarquée :</a:t>
            </a:r>
            <a:r>
              <a:rPr b="0" lang="en-US" sz="2020" spc="-1" strike="noStrike">
                <a:solidFill>
                  <a:srgbClr val="334155"/>
                </a:solidFill>
                <a:latin typeface="Inter"/>
                <a:ea typeface="Inter"/>
              </a:rPr>
              <a:t> Analyse des données pour maximiser le taux de rotation des actifs et optimiser les revenus.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8" name="Group 16"/>
          <p:cNvGrpSpPr/>
          <p:nvPr/>
        </p:nvGrpSpPr>
        <p:grpSpPr>
          <a:xfrm>
            <a:off x="1143000" y="3564720"/>
            <a:ext cx="271080" cy="328320"/>
            <a:chOff x="1143000" y="3564720"/>
            <a:chExt cx="271080" cy="328320"/>
          </a:xfrm>
        </p:grpSpPr>
        <p:sp>
          <p:nvSpPr>
            <p:cNvPr id="119" name="Freeform 17"/>
            <p:cNvSpPr/>
            <p:nvPr/>
          </p:nvSpPr>
          <p:spPr>
            <a:xfrm>
              <a:off x="1143000" y="3564720"/>
              <a:ext cx="271080" cy="328320"/>
            </a:xfrm>
            <a:custGeom>
              <a:avLst/>
              <a:gdLst>
                <a:gd name="textAreaLeft" fmla="*/ 0 w 271080"/>
                <a:gd name="textAreaRight" fmla="*/ 271440 w 27108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0" name="Group 18"/>
          <p:cNvGrpSpPr/>
          <p:nvPr/>
        </p:nvGrpSpPr>
        <p:grpSpPr>
          <a:xfrm>
            <a:off x="1143000" y="5064840"/>
            <a:ext cx="271080" cy="328320"/>
            <a:chOff x="1143000" y="5064840"/>
            <a:chExt cx="271080" cy="328320"/>
          </a:xfrm>
        </p:grpSpPr>
        <p:sp>
          <p:nvSpPr>
            <p:cNvPr id="121" name="Freeform 19"/>
            <p:cNvSpPr/>
            <p:nvPr/>
          </p:nvSpPr>
          <p:spPr>
            <a:xfrm>
              <a:off x="1143000" y="5064840"/>
              <a:ext cx="271080" cy="328320"/>
            </a:xfrm>
            <a:custGeom>
              <a:avLst/>
              <a:gdLst>
                <a:gd name="textAreaLeft" fmla="*/ 0 w 271080"/>
                <a:gd name="textAreaRight" fmla="*/ 271440 w 27108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" name="Group 20"/>
          <p:cNvGrpSpPr/>
          <p:nvPr/>
        </p:nvGrpSpPr>
        <p:grpSpPr>
          <a:xfrm>
            <a:off x="1143000" y="6564960"/>
            <a:ext cx="271080" cy="328320"/>
            <a:chOff x="1143000" y="6564960"/>
            <a:chExt cx="271080" cy="328320"/>
          </a:xfrm>
        </p:grpSpPr>
        <p:sp>
          <p:nvSpPr>
            <p:cNvPr id="123" name="Freeform 21"/>
            <p:cNvSpPr/>
            <p:nvPr/>
          </p:nvSpPr>
          <p:spPr>
            <a:xfrm>
              <a:off x="1143000" y="6564960"/>
              <a:ext cx="271080" cy="328320"/>
            </a:xfrm>
            <a:custGeom>
              <a:avLst/>
              <a:gdLst>
                <a:gd name="textAreaLeft" fmla="*/ 0 w 271080"/>
                <a:gd name="textAreaRight" fmla="*/ 271440 w 27108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2"/>
          <p:cNvGrpSpPr/>
          <p:nvPr/>
        </p:nvGrpSpPr>
        <p:grpSpPr>
          <a:xfrm>
            <a:off x="-1428840" y="6715080"/>
            <a:ext cx="5714640" cy="5714640"/>
            <a:chOff x="-1428840" y="6715080"/>
            <a:chExt cx="5714640" cy="5714640"/>
          </a:xfrm>
        </p:grpSpPr>
        <p:sp>
          <p:nvSpPr>
            <p:cNvPr id="125" name="Freeform 3"/>
            <p:cNvSpPr/>
            <p:nvPr/>
          </p:nvSpPr>
          <p:spPr>
            <a:xfrm>
              <a:off x="-1428840" y="6715080"/>
              <a:ext cx="5714640" cy="5714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5714640"/>
                <a:gd name="textAreaBottom" fmla="*/ 5715000 h 5714640"/>
              </a:gdLst>
              <a:ahLst/>
              <a:rect l="textAreaLeft" t="textAreaTop" r="textAreaRight" b="textAreaBottom"/>
              <a:pathLst>
                <a:path w="7620000" h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" name="Group 4"/>
          <p:cNvGrpSpPr/>
          <p:nvPr/>
        </p:nvGrpSpPr>
        <p:grpSpPr>
          <a:xfrm>
            <a:off x="12573000" y="-2857680"/>
            <a:ext cx="7143480" cy="7143480"/>
            <a:chOff x="12573000" y="-2857680"/>
            <a:chExt cx="7143480" cy="7143480"/>
          </a:xfrm>
        </p:grpSpPr>
        <p:sp>
          <p:nvSpPr>
            <p:cNvPr id="127" name="Freeform 5"/>
            <p:cNvSpPr/>
            <p:nvPr/>
          </p:nvSpPr>
          <p:spPr>
            <a:xfrm>
              <a:off x="12573000" y="-2857680"/>
              <a:ext cx="7143480" cy="7143480"/>
            </a:xfrm>
            <a:custGeom>
              <a:avLst/>
              <a:gdLst>
                <a:gd name="textAreaLeft" fmla="*/ 0 w 7143480"/>
                <a:gd name="textAreaRight" fmla="*/ 7143840 w 7143480"/>
                <a:gd name="textAreaTop" fmla="*/ 0 h 7143480"/>
                <a:gd name="textAreaBottom" fmla="*/ 7143840 h 7143480"/>
              </a:gdLst>
              <a:ahLst/>
              <a:rect l="textAreaLeft" t="textAreaTop" r="textAreaRight" b="textAreaBottom"/>
              <a:pathLst>
                <a:path w="9525000" h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" name="Group 6"/>
          <p:cNvGrpSpPr/>
          <p:nvPr/>
        </p:nvGrpSpPr>
        <p:grpSpPr>
          <a:xfrm>
            <a:off x="1143000" y="3750480"/>
            <a:ext cx="16001640" cy="4028760"/>
            <a:chOff x="1143000" y="3750480"/>
            <a:chExt cx="16001640" cy="4028760"/>
          </a:xfrm>
        </p:grpSpPr>
        <p:sp>
          <p:nvSpPr>
            <p:cNvPr id="129" name="Freeform 7"/>
            <p:cNvSpPr/>
            <p:nvPr/>
          </p:nvSpPr>
          <p:spPr>
            <a:xfrm>
              <a:off x="1143000" y="3750480"/>
              <a:ext cx="16001640" cy="4028760"/>
            </a:xfrm>
            <a:custGeom>
              <a:avLst/>
              <a:gdLst>
                <a:gd name="textAreaLeft" fmla="*/ 0 w 16001640"/>
                <a:gd name="textAreaRight" fmla="*/ 16002000 w 16001640"/>
                <a:gd name="textAreaTop" fmla="*/ 0 h 4028760"/>
                <a:gd name="textAreaBottom" fmla="*/ 4029120 h 4028760"/>
              </a:gdLst>
              <a:ahLst/>
              <a:rect l="textAreaLeft" t="textAreaTop" r="textAreaRight" b="textAreaBottom"/>
              <a:pathLst>
                <a:path w="21336000" h="5372100">
                  <a:moveTo>
                    <a:pt x="0" y="0"/>
                  </a:moveTo>
                  <a:lnTo>
                    <a:pt x="21336000" y="0"/>
                  </a:lnTo>
                  <a:lnTo>
                    <a:pt x="21336000" y="5372100"/>
                  </a:lnTo>
                  <a:lnTo>
                    <a:pt x="0" y="5372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0" name="TextBox 8"/>
          <p:cNvSpPr/>
          <p:nvPr/>
        </p:nvSpPr>
        <p:spPr>
          <a:xfrm>
            <a:off x="1428840" y="666720"/>
            <a:ext cx="88207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Positionnement Concurrentiel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1" name="Group 9"/>
          <p:cNvGrpSpPr/>
          <p:nvPr/>
        </p:nvGrpSpPr>
        <p:grpSpPr>
          <a:xfrm>
            <a:off x="13973040" y="921600"/>
            <a:ext cx="3171600" cy="399600"/>
            <a:chOff x="13973040" y="921600"/>
            <a:chExt cx="3171600" cy="399600"/>
          </a:xfrm>
        </p:grpSpPr>
        <p:sp>
          <p:nvSpPr>
            <p:cNvPr id="132" name="Freeform 10"/>
            <p:cNvSpPr/>
            <p:nvPr/>
          </p:nvSpPr>
          <p:spPr>
            <a:xfrm>
              <a:off x="13973040" y="921600"/>
              <a:ext cx="3171600" cy="399600"/>
            </a:xfrm>
            <a:custGeom>
              <a:avLst/>
              <a:gdLst>
                <a:gd name="textAreaLeft" fmla="*/ 0 w 3171600"/>
                <a:gd name="textAreaRight" fmla="*/ 3171960 w 317160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4229100" h="533400">
                  <a:moveTo>
                    <a:pt x="0" y="0"/>
                  </a:moveTo>
                  <a:lnTo>
                    <a:pt x="4229100" y="0"/>
                  </a:lnTo>
                  <a:lnTo>
                    <a:pt x="42291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" name="Group 11"/>
          <p:cNvGrpSpPr/>
          <p:nvPr/>
        </p:nvGrpSpPr>
        <p:grpSpPr>
          <a:xfrm>
            <a:off x="1028880" y="751320"/>
            <a:ext cx="85680" cy="569880"/>
            <a:chOff x="1028880" y="751320"/>
            <a:chExt cx="85680" cy="569880"/>
          </a:xfrm>
        </p:grpSpPr>
        <p:sp>
          <p:nvSpPr>
            <p:cNvPr id="134" name="Freeform 12"/>
            <p:cNvSpPr/>
            <p:nvPr/>
          </p:nvSpPr>
          <p:spPr>
            <a:xfrm>
              <a:off x="1028880" y="751320"/>
              <a:ext cx="85680" cy="56988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569880"/>
                <a:gd name="textAreaBottom" fmla="*/ 570240 h 569880"/>
              </a:gdLst>
              <a:ahLst/>
              <a:rect l="textAreaLeft" t="textAreaTop" r="textAreaRight" b="textAreaBottom"/>
              <a:pathLst>
                <a:path w="114554" h="760222">
                  <a:moveTo>
                    <a:pt x="0" y="57277"/>
                  </a:moveTo>
                  <a:cubicBezTo>
                    <a:pt x="0" y="25654"/>
                    <a:pt x="25654" y="0"/>
                    <a:pt x="57277" y="0"/>
                  </a:cubicBezTo>
                  <a:cubicBezTo>
                    <a:pt x="88900" y="0"/>
                    <a:pt x="114554" y="25654"/>
                    <a:pt x="114554" y="57277"/>
                  </a:cubicBezTo>
                  <a:lnTo>
                    <a:pt x="114554" y="702945"/>
                  </a:lnTo>
                  <a:cubicBezTo>
                    <a:pt x="114554" y="734568"/>
                    <a:pt x="88900" y="760222"/>
                    <a:pt x="57277" y="760222"/>
                  </a:cubicBezTo>
                  <a:cubicBezTo>
                    <a:pt x="25654" y="760222"/>
                    <a:pt x="0" y="734568"/>
                    <a:pt x="0" y="702945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aphicFrame>
        <p:nvGraphicFramePr>
          <p:cNvPr id="135" name="Table 13"/>
          <p:cNvGraphicFramePr/>
          <p:nvPr/>
        </p:nvGraphicFramePr>
        <p:xfrm>
          <a:off x="1143000" y="3750480"/>
          <a:ext cx="15734880" cy="4000320"/>
        </p:xfrm>
        <a:graphic>
          <a:graphicData uri="http://schemas.openxmlformats.org/drawingml/2006/table">
            <a:tbl>
              <a:tblPr/>
              <a:tblGrid>
                <a:gridCol w="3919680"/>
                <a:gridCol w="2611800"/>
                <a:gridCol w="2565000"/>
                <a:gridCol w="2518560"/>
                <a:gridCol w="1973880"/>
                <a:gridCol w="2145240"/>
              </a:tblGrid>
              <a:tr h="799920">
                <a:tc>
                  <a:txBody>
                    <a:bodyPr lIns="145440" rIns="145440" tIns="145440" bIns="145440" anchor="ctr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</a:pPr>
                      <a:r>
                        <a:rPr b="1" lang="en-US" sz="1800" spc="-1" strike="noStrike">
                          <a:solidFill>
                            <a:srgbClr val="0f172a"/>
                          </a:solidFill>
                          <a:latin typeface="Inter Bold"/>
                          <a:ea typeface="Inter Bold"/>
                        </a:rPr>
                        <a:t>Solution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pPr algn="ctr" defTabSz="914400">
                        <a:lnSpc>
                          <a:spcPts val="2160"/>
                        </a:lnSpc>
                      </a:pPr>
                      <a:r>
                        <a:rPr b="0" lang="en-US" sz="1800" spc="-1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Gestion location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pPr algn="ctr" defTabSz="914400">
                        <a:lnSpc>
                          <a:spcPts val="2160"/>
                        </a:lnSpc>
                      </a:pPr>
                      <a:r>
                        <a:rPr b="0" lang="en-US" sz="1800" spc="-1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Facturation PDF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pPr algn="ctr" defTabSz="914400">
                        <a:lnSpc>
                          <a:spcPts val="2160"/>
                        </a:lnSpc>
                      </a:pPr>
                      <a:r>
                        <a:rPr b="0" lang="en-US" sz="1800" spc="-1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Pénalités retard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pPr algn="ctr" defTabSz="914400">
                        <a:lnSpc>
                          <a:spcPts val="2160"/>
                        </a:lnSpc>
                      </a:pPr>
                      <a:r>
                        <a:rPr b="0" lang="en-US" sz="1800" spc="-1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Dashboard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pPr algn="ctr" defTabSz="914400">
                        <a:lnSpc>
                          <a:spcPts val="2160"/>
                        </a:lnSpc>
                      </a:pPr>
                      <a:r>
                        <a:rPr b="0" lang="en-US" sz="1800" spc="-1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IA prédictive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799920">
                <a:tc>
                  <a:txBody>
                    <a:bodyPr lIns="145440" rIns="145440" tIns="145440" bIns="14544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0" lang="en-US" sz="1679" spc="-1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Excel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99920">
                <a:tc>
                  <a:txBody>
                    <a:bodyPr lIns="145440" rIns="145440" tIns="145440" bIns="14544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0" lang="en-US" sz="1679" spc="-1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WhatsApp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99920">
                <a:tc>
                  <a:txBody>
                    <a:bodyPr lIns="145440" rIns="145440" tIns="145440" bIns="14544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0" lang="en-US" sz="1679" spc="-1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ERP généraliste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99920">
                <a:tc>
                  <a:txBody>
                    <a:bodyPr lIns="145440" rIns="145440" tIns="145440" bIns="14544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  <a:tabLst>
                          <a:tab algn="l" pos="0"/>
                        </a:tabLst>
                      </a:pPr>
                      <a:r>
                        <a:rPr b="0" lang="en-US" sz="1679" spc="-1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</a:rPr>
                        <a:t>LocaTech AI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145440" rIns="145440" tIns="145440" bIns="145440"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45440" marR="145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grpSp>
        <p:nvGrpSpPr>
          <p:cNvPr id="136" name="Group 14"/>
          <p:cNvGrpSpPr/>
          <p:nvPr/>
        </p:nvGrpSpPr>
        <p:grpSpPr>
          <a:xfrm>
            <a:off x="1171440" y="4521960"/>
            <a:ext cx="3950280" cy="14040"/>
            <a:chOff x="1171440" y="4521960"/>
            <a:chExt cx="3950280" cy="14040"/>
          </a:xfrm>
        </p:grpSpPr>
        <p:sp>
          <p:nvSpPr>
            <p:cNvPr id="137" name="Freeform 15"/>
            <p:cNvSpPr/>
            <p:nvPr/>
          </p:nvSpPr>
          <p:spPr>
            <a:xfrm>
              <a:off x="1171440" y="4521960"/>
              <a:ext cx="3950280" cy="14040"/>
            </a:xfrm>
            <a:custGeom>
              <a:avLst/>
              <a:gdLst>
                <a:gd name="textAreaLeft" fmla="*/ 0 w 3950280"/>
                <a:gd name="textAreaRight" fmla="*/ 3950640 w 395028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5267452" h="19177">
                  <a:moveTo>
                    <a:pt x="0" y="0"/>
                  </a:moveTo>
                  <a:lnTo>
                    <a:pt x="5267452" y="0"/>
                  </a:lnTo>
                  <a:lnTo>
                    <a:pt x="5267452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8" name="Group 16"/>
          <p:cNvGrpSpPr/>
          <p:nvPr/>
        </p:nvGrpSpPr>
        <p:grpSpPr>
          <a:xfrm>
            <a:off x="5150520" y="4521960"/>
            <a:ext cx="2622600" cy="14040"/>
            <a:chOff x="5150520" y="4521960"/>
            <a:chExt cx="2622600" cy="14040"/>
          </a:xfrm>
        </p:grpSpPr>
        <p:sp>
          <p:nvSpPr>
            <p:cNvPr id="139" name="Freeform 17"/>
            <p:cNvSpPr/>
            <p:nvPr/>
          </p:nvSpPr>
          <p:spPr>
            <a:xfrm>
              <a:off x="5150520" y="4521960"/>
              <a:ext cx="2622600" cy="14040"/>
            </a:xfrm>
            <a:custGeom>
              <a:avLst/>
              <a:gdLst>
                <a:gd name="textAreaLeft" fmla="*/ 0 w 2622600"/>
                <a:gd name="textAreaRight" fmla="*/ 2622960 w 26226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497453" h="19177">
                  <a:moveTo>
                    <a:pt x="0" y="0"/>
                  </a:moveTo>
                  <a:lnTo>
                    <a:pt x="3497453" y="0"/>
                  </a:lnTo>
                  <a:lnTo>
                    <a:pt x="3497453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" name="Group 18"/>
          <p:cNvGrpSpPr/>
          <p:nvPr/>
        </p:nvGrpSpPr>
        <p:grpSpPr>
          <a:xfrm>
            <a:off x="7802280" y="4521960"/>
            <a:ext cx="2575080" cy="14040"/>
            <a:chOff x="7802280" y="4521960"/>
            <a:chExt cx="2575080" cy="14040"/>
          </a:xfrm>
        </p:grpSpPr>
        <p:sp>
          <p:nvSpPr>
            <p:cNvPr id="141" name="Freeform 19"/>
            <p:cNvSpPr/>
            <p:nvPr/>
          </p:nvSpPr>
          <p:spPr>
            <a:xfrm>
              <a:off x="7802280" y="4521960"/>
              <a:ext cx="2575080" cy="14040"/>
            </a:xfrm>
            <a:custGeom>
              <a:avLst/>
              <a:gdLst>
                <a:gd name="textAreaLeft" fmla="*/ 0 w 2575080"/>
                <a:gd name="textAreaRight" fmla="*/ 2575440 w 257508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433826" h="19177">
                  <a:moveTo>
                    <a:pt x="0" y="0"/>
                  </a:moveTo>
                  <a:lnTo>
                    <a:pt x="3433826" y="0"/>
                  </a:lnTo>
                  <a:lnTo>
                    <a:pt x="3433826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" name="Group 20"/>
          <p:cNvGrpSpPr/>
          <p:nvPr/>
        </p:nvGrpSpPr>
        <p:grpSpPr>
          <a:xfrm>
            <a:off x="10406520" y="4521960"/>
            <a:ext cx="2527920" cy="14040"/>
            <a:chOff x="10406520" y="4521960"/>
            <a:chExt cx="2527920" cy="14040"/>
          </a:xfrm>
        </p:grpSpPr>
        <p:sp>
          <p:nvSpPr>
            <p:cNvPr id="143" name="Freeform 21"/>
            <p:cNvSpPr/>
            <p:nvPr/>
          </p:nvSpPr>
          <p:spPr>
            <a:xfrm>
              <a:off x="10406520" y="4521960"/>
              <a:ext cx="2527920" cy="14040"/>
            </a:xfrm>
            <a:custGeom>
              <a:avLst/>
              <a:gdLst>
                <a:gd name="textAreaLeft" fmla="*/ 0 w 2527920"/>
                <a:gd name="textAreaRight" fmla="*/ 2528280 w 25279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370834" h="19177">
                  <a:moveTo>
                    <a:pt x="0" y="0"/>
                  </a:moveTo>
                  <a:lnTo>
                    <a:pt x="3370834" y="0"/>
                  </a:lnTo>
                  <a:lnTo>
                    <a:pt x="337083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4" name="Group 22"/>
          <p:cNvGrpSpPr/>
          <p:nvPr/>
        </p:nvGrpSpPr>
        <p:grpSpPr>
          <a:xfrm>
            <a:off x="12963240" y="4521960"/>
            <a:ext cx="1974600" cy="14040"/>
            <a:chOff x="12963240" y="4521960"/>
            <a:chExt cx="1974600" cy="14040"/>
          </a:xfrm>
        </p:grpSpPr>
        <p:sp>
          <p:nvSpPr>
            <p:cNvPr id="145" name="Freeform 23"/>
            <p:cNvSpPr/>
            <p:nvPr/>
          </p:nvSpPr>
          <p:spPr>
            <a:xfrm>
              <a:off x="12963240" y="4521960"/>
              <a:ext cx="1974600" cy="14040"/>
            </a:xfrm>
            <a:custGeom>
              <a:avLst/>
              <a:gdLst>
                <a:gd name="textAreaLeft" fmla="*/ 0 w 1974600"/>
                <a:gd name="textAreaRight" fmla="*/ 1974960 w 19746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2633345" h="19177">
                  <a:moveTo>
                    <a:pt x="0" y="0"/>
                  </a:moveTo>
                  <a:lnTo>
                    <a:pt x="2633345" y="0"/>
                  </a:lnTo>
                  <a:lnTo>
                    <a:pt x="2633345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" name="Group 24"/>
          <p:cNvGrpSpPr/>
          <p:nvPr/>
        </p:nvGrpSpPr>
        <p:grpSpPr>
          <a:xfrm>
            <a:off x="14967000" y="4521960"/>
            <a:ext cx="2148840" cy="14040"/>
            <a:chOff x="14967000" y="4521960"/>
            <a:chExt cx="2148840" cy="14040"/>
          </a:xfrm>
        </p:grpSpPr>
        <p:sp>
          <p:nvSpPr>
            <p:cNvPr id="147" name="Freeform 25"/>
            <p:cNvSpPr/>
            <p:nvPr/>
          </p:nvSpPr>
          <p:spPr>
            <a:xfrm>
              <a:off x="14967000" y="4521960"/>
              <a:ext cx="2148840" cy="14040"/>
            </a:xfrm>
            <a:custGeom>
              <a:avLst/>
              <a:gdLst>
                <a:gd name="textAreaLeft" fmla="*/ 0 w 2148840"/>
                <a:gd name="textAreaRight" fmla="*/ 2149200 w 214884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2865628" h="19177">
                  <a:moveTo>
                    <a:pt x="0" y="0"/>
                  </a:moveTo>
                  <a:lnTo>
                    <a:pt x="2865628" y="0"/>
                  </a:lnTo>
                  <a:lnTo>
                    <a:pt x="2865628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" name="Group 26"/>
          <p:cNvGrpSpPr/>
          <p:nvPr/>
        </p:nvGrpSpPr>
        <p:grpSpPr>
          <a:xfrm>
            <a:off x="1171440" y="5322240"/>
            <a:ext cx="3950280" cy="14040"/>
            <a:chOff x="1171440" y="5322240"/>
            <a:chExt cx="3950280" cy="14040"/>
          </a:xfrm>
        </p:grpSpPr>
        <p:sp>
          <p:nvSpPr>
            <p:cNvPr id="149" name="Freeform 27"/>
            <p:cNvSpPr/>
            <p:nvPr/>
          </p:nvSpPr>
          <p:spPr>
            <a:xfrm>
              <a:off x="1171440" y="5322240"/>
              <a:ext cx="3950280" cy="14040"/>
            </a:xfrm>
            <a:custGeom>
              <a:avLst/>
              <a:gdLst>
                <a:gd name="textAreaLeft" fmla="*/ 0 w 3950280"/>
                <a:gd name="textAreaRight" fmla="*/ 3950640 w 395028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5267452" h="19177">
                  <a:moveTo>
                    <a:pt x="0" y="0"/>
                  </a:moveTo>
                  <a:lnTo>
                    <a:pt x="5267452" y="0"/>
                  </a:lnTo>
                  <a:lnTo>
                    <a:pt x="5267452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" name="Group 28"/>
          <p:cNvGrpSpPr/>
          <p:nvPr/>
        </p:nvGrpSpPr>
        <p:grpSpPr>
          <a:xfrm>
            <a:off x="5150520" y="5322240"/>
            <a:ext cx="2622600" cy="14040"/>
            <a:chOff x="5150520" y="5322240"/>
            <a:chExt cx="2622600" cy="14040"/>
          </a:xfrm>
        </p:grpSpPr>
        <p:sp>
          <p:nvSpPr>
            <p:cNvPr id="151" name="Freeform 29"/>
            <p:cNvSpPr/>
            <p:nvPr/>
          </p:nvSpPr>
          <p:spPr>
            <a:xfrm>
              <a:off x="5150520" y="5322240"/>
              <a:ext cx="2622600" cy="14040"/>
            </a:xfrm>
            <a:custGeom>
              <a:avLst/>
              <a:gdLst>
                <a:gd name="textAreaLeft" fmla="*/ 0 w 2622600"/>
                <a:gd name="textAreaRight" fmla="*/ 2622960 w 26226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497453" h="19177">
                  <a:moveTo>
                    <a:pt x="0" y="0"/>
                  </a:moveTo>
                  <a:lnTo>
                    <a:pt x="3497453" y="0"/>
                  </a:lnTo>
                  <a:lnTo>
                    <a:pt x="3497453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" name="Group 30"/>
          <p:cNvGrpSpPr/>
          <p:nvPr/>
        </p:nvGrpSpPr>
        <p:grpSpPr>
          <a:xfrm>
            <a:off x="7802280" y="5322240"/>
            <a:ext cx="2575080" cy="14040"/>
            <a:chOff x="7802280" y="5322240"/>
            <a:chExt cx="2575080" cy="14040"/>
          </a:xfrm>
        </p:grpSpPr>
        <p:sp>
          <p:nvSpPr>
            <p:cNvPr id="153" name="Freeform 31"/>
            <p:cNvSpPr/>
            <p:nvPr/>
          </p:nvSpPr>
          <p:spPr>
            <a:xfrm>
              <a:off x="7802280" y="5322240"/>
              <a:ext cx="2575080" cy="14040"/>
            </a:xfrm>
            <a:custGeom>
              <a:avLst/>
              <a:gdLst>
                <a:gd name="textAreaLeft" fmla="*/ 0 w 2575080"/>
                <a:gd name="textAreaRight" fmla="*/ 2575440 w 257508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433826" h="19177">
                  <a:moveTo>
                    <a:pt x="0" y="0"/>
                  </a:moveTo>
                  <a:lnTo>
                    <a:pt x="3433826" y="0"/>
                  </a:lnTo>
                  <a:lnTo>
                    <a:pt x="3433826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" name="Group 32"/>
          <p:cNvGrpSpPr/>
          <p:nvPr/>
        </p:nvGrpSpPr>
        <p:grpSpPr>
          <a:xfrm>
            <a:off x="10406520" y="5322240"/>
            <a:ext cx="2527920" cy="14040"/>
            <a:chOff x="10406520" y="5322240"/>
            <a:chExt cx="2527920" cy="14040"/>
          </a:xfrm>
        </p:grpSpPr>
        <p:sp>
          <p:nvSpPr>
            <p:cNvPr id="155" name="Freeform 33"/>
            <p:cNvSpPr/>
            <p:nvPr/>
          </p:nvSpPr>
          <p:spPr>
            <a:xfrm>
              <a:off x="10406520" y="5322240"/>
              <a:ext cx="2527920" cy="14040"/>
            </a:xfrm>
            <a:custGeom>
              <a:avLst/>
              <a:gdLst>
                <a:gd name="textAreaLeft" fmla="*/ 0 w 2527920"/>
                <a:gd name="textAreaRight" fmla="*/ 2528280 w 25279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370834" h="19177">
                  <a:moveTo>
                    <a:pt x="0" y="0"/>
                  </a:moveTo>
                  <a:lnTo>
                    <a:pt x="3370834" y="0"/>
                  </a:lnTo>
                  <a:lnTo>
                    <a:pt x="337083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6" name="Group 34"/>
          <p:cNvGrpSpPr/>
          <p:nvPr/>
        </p:nvGrpSpPr>
        <p:grpSpPr>
          <a:xfrm>
            <a:off x="12963240" y="5322240"/>
            <a:ext cx="1974600" cy="14040"/>
            <a:chOff x="12963240" y="5322240"/>
            <a:chExt cx="1974600" cy="14040"/>
          </a:xfrm>
        </p:grpSpPr>
        <p:sp>
          <p:nvSpPr>
            <p:cNvPr id="157" name="Freeform 35"/>
            <p:cNvSpPr/>
            <p:nvPr/>
          </p:nvSpPr>
          <p:spPr>
            <a:xfrm>
              <a:off x="12963240" y="5322240"/>
              <a:ext cx="1974600" cy="14040"/>
            </a:xfrm>
            <a:custGeom>
              <a:avLst/>
              <a:gdLst>
                <a:gd name="textAreaLeft" fmla="*/ 0 w 1974600"/>
                <a:gd name="textAreaRight" fmla="*/ 1974960 w 19746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2633345" h="19177">
                  <a:moveTo>
                    <a:pt x="0" y="0"/>
                  </a:moveTo>
                  <a:lnTo>
                    <a:pt x="2633345" y="0"/>
                  </a:lnTo>
                  <a:lnTo>
                    <a:pt x="2633345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" name="Group 36"/>
          <p:cNvGrpSpPr/>
          <p:nvPr/>
        </p:nvGrpSpPr>
        <p:grpSpPr>
          <a:xfrm>
            <a:off x="14967000" y="5322240"/>
            <a:ext cx="2148840" cy="14040"/>
            <a:chOff x="14967000" y="5322240"/>
            <a:chExt cx="2148840" cy="14040"/>
          </a:xfrm>
        </p:grpSpPr>
        <p:sp>
          <p:nvSpPr>
            <p:cNvPr id="159" name="Freeform 37"/>
            <p:cNvSpPr/>
            <p:nvPr/>
          </p:nvSpPr>
          <p:spPr>
            <a:xfrm>
              <a:off x="14967000" y="5322240"/>
              <a:ext cx="2148840" cy="14040"/>
            </a:xfrm>
            <a:custGeom>
              <a:avLst/>
              <a:gdLst>
                <a:gd name="textAreaLeft" fmla="*/ 0 w 2148840"/>
                <a:gd name="textAreaRight" fmla="*/ 2149200 w 214884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2865628" h="19177">
                  <a:moveTo>
                    <a:pt x="0" y="0"/>
                  </a:moveTo>
                  <a:lnTo>
                    <a:pt x="2865628" y="0"/>
                  </a:lnTo>
                  <a:lnTo>
                    <a:pt x="2865628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" name="Group 38"/>
          <p:cNvGrpSpPr/>
          <p:nvPr/>
        </p:nvGrpSpPr>
        <p:grpSpPr>
          <a:xfrm>
            <a:off x="1171440" y="6122160"/>
            <a:ext cx="3950280" cy="14040"/>
            <a:chOff x="1171440" y="6122160"/>
            <a:chExt cx="3950280" cy="14040"/>
          </a:xfrm>
        </p:grpSpPr>
        <p:sp>
          <p:nvSpPr>
            <p:cNvPr id="161" name="Freeform 39"/>
            <p:cNvSpPr/>
            <p:nvPr/>
          </p:nvSpPr>
          <p:spPr>
            <a:xfrm>
              <a:off x="1171440" y="6122160"/>
              <a:ext cx="3950280" cy="14040"/>
            </a:xfrm>
            <a:custGeom>
              <a:avLst/>
              <a:gdLst>
                <a:gd name="textAreaLeft" fmla="*/ 0 w 3950280"/>
                <a:gd name="textAreaRight" fmla="*/ 3950640 w 395028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5267452" h="19177">
                  <a:moveTo>
                    <a:pt x="0" y="0"/>
                  </a:moveTo>
                  <a:lnTo>
                    <a:pt x="5267452" y="0"/>
                  </a:lnTo>
                  <a:lnTo>
                    <a:pt x="5267452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2" name="Group 40"/>
          <p:cNvGrpSpPr/>
          <p:nvPr/>
        </p:nvGrpSpPr>
        <p:grpSpPr>
          <a:xfrm>
            <a:off x="5150520" y="6122160"/>
            <a:ext cx="2622600" cy="14040"/>
            <a:chOff x="5150520" y="6122160"/>
            <a:chExt cx="2622600" cy="14040"/>
          </a:xfrm>
        </p:grpSpPr>
        <p:sp>
          <p:nvSpPr>
            <p:cNvPr id="163" name="Freeform 41"/>
            <p:cNvSpPr/>
            <p:nvPr/>
          </p:nvSpPr>
          <p:spPr>
            <a:xfrm>
              <a:off x="5150520" y="6122160"/>
              <a:ext cx="2622600" cy="14040"/>
            </a:xfrm>
            <a:custGeom>
              <a:avLst/>
              <a:gdLst>
                <a:gd name="textAreaLeft" fmla="*/ 0 w 2622600"/>
                <a:gd name="textAreaRight" fmla="*/ 2622960 w 26226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497453" h="19177">
                  <a:moveTo>
                    <a:pt x="0" y="0"/>
                  </a:moveTo>
                  <a:lnTo>
                    <a:pt x="3497453" y="0"/>
                  </a:lnTo>
                  <a:lnTo>
                    <a:pt x="3497453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" name="Group 42"/>
          <p:cNvGrpSpPr/>
          <p:nvPr/>
        </p:nvGrpSpPr>
        <p:grpSpPr>
          <a:xfrm>
            <a:off x="7802280" y="6122160"/>
            <a:ext cx="2575080" cy="14040"/>
            <a:chOff x="7802280" y="6122160"/>
            <a:chExt cx="2575080" cy="14040"/>
          </a:xfrm>
        </p:grpSpPr>
        <p:sp>
          <p:nvSpPr>
            <p:cNvPr id="165" name="Freeform 43"/>
            <p:cNvSpPr/>
            <p:nvPr/>
          </p:nvSpPr>
          <p:spPr>
            <a:xfrm>
              <a:off x="7802280" y="6122160"/>
              <a:ext cx="2575080" cy="14040"/>
            </a:xfrm>
            <a:custGeom>
              <a:avLst/>
              <a:gdLst>
                <a:gd name="textAreaLeft" fmla="*/ 0 w 2575080"/>
                <a:gd name="textAreaRight" fmla="*/ 2575440 w 257508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433826" h="19177">
                  <a:moveTo>
                    <a:pt x="0" y="0"/>
                  </a:moveTo>
                  <a:lnTo>
                    <a:pt x="3433826" y="0"/>
                  </a:lnTo>
                  <a:lnTo>
                    <a:pt x="3433826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6" name="Group 44"/>
          <p:cNvGrpSpPr/>
          <p:nvPr/>
        </p:nvGrpSpPr>
        <p:grpSpPr>
          <a:xfrm>
            <a:off x="10406520" y="6122160"/>
            <a:ext cx="2527920" cy="14040"/>
            <a:chOff x="10406520" y="6122160"/>
            <a:chExt cx="2527920" cy="14040"/>
          </a:xfrm>
        </p:grpSpPr>
        <p:sp>
          <p:nvSpPr>
            <p:cNvPr id="167" name="Freeform 45"/>
            <p:cNvSpPr/>
            <p:nvPr/>
          </p:nvSpPr>
          <p:spPr>
            <a:xfrm>
              <a:off x="10406520" y="6122160"/>
              <a:ext cx="2527920" cy="14040"/>
            </a:xfrm>
            <a:custGeom>
              <a:avLst/>
              <a:gdLst>
                <a:gd name="textAreaLeft" fmla="*/ 0 w 2527920"/>
                <a:gd name="textAreaRight" fmla="*/ 2528280 w 25279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370834" h="19177">
                  <a:moveTo>
                    <a:pt x="0" y="0"/>
                  </a:moveTo>
                  <a:lnTo>
                    <a:pt x="3370834" y="0"/>
                  </a:lnTo>
                  <a:lnTo>
                    <a:pt x="337083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" name="Group 46"/>
          <p:cNvGrpSpPr/>
          <p:nvPr/>
        </p:nvGrpSpPr>
        <p:grpSpPr>
          <a:xfrm>
            <a:off x="12963240" y="6122160"/>
            <a:ext cx="1974600" cy="14040"/>
            <a:chOff x="12963240" y="6122160"/>
            <a:chExt cx="1974600" cy="14040"/>
          </a:xfrm>
        </p:grpSpPr>
        <p:sp>
          <p:nvSpPr>
            <p:cNvPr id="169" name="Freeform 47"/>
            <p:cNvSpPr/>
            <p:nvPr/>
          </p:nvSpPr>
          <p:spPr>
            <a:xfrm>
              <a:off x="12963240" y="6122160"/>
              <a:ext cx="1974600" cy="14040"/>
            </a:xfrm>
            <a:custGeom>
              <a:avLst/>
              <a:gdLst>
                <a:gd name="textAreaLeft" fmla="*/ 0 w 1974600"/>
                <a:gd name="textAreaRight" fmla="*/ 1974960 w 19746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2633345" h="19177">
                  <a:moveTo>
                    <a:pt x="0" y="0"/>
                  </a:moveTo>
                  <a:lnTo>
                    <a:pt x="2633345" y="0"/>
                  </a:lnTo>
                  <a:lnTo>
                    <a:pt x="2633345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" name="Group 48"/>
          <p:cNvGrpSpPr/>
          <p:nvPr/>
        </p:nvGrpSpPr>
        <p:grpSpPr>
          <a:xfrm>
            <a:off x="14967000" y="6122160"/>
            <a:ext cx="2148840" cy="14040"/>
            <a:chOff x="14967000" y="6122160"/>
            <a:chExt cx="2148840" cy="14040"/>
          </a:xfrm>
        </p:grpSpPr>
        <p:sp>
          <p:nvSpPr>
            <p:cNvPr id="171" name="Freeform 49"/>
            <p:cNvSpPr/>
            <p:nvPr/>
          </p:nvSpPr>
          <p:spPr>
            <a:xfrm>
              <a:off x="14967000" y="6122160"/>
              <a:ext cx="2148840" cy="14040"/>
            </a:xfrm>
            <a:custGeom>
              <a:avLst/>
              <a:gdLst>
                <a:gd name="textAreaLeft" fmla="*/ 0 w 2148840"/>
                <a:gd name="textAreaRight" fmla="*/ 2149200 w 214884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2865628" h="19177">
                  <a:moveTo>
                    <a:pt x="0" y="0"/>
                  </a:moveTo>
                  <a:lnTo>
                    <a:pt x="2865628" y="0"/>
                  </a:lnTo>
                  <a:lnTo>
                    <a:pt x="2865628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" name="Group 50"/>
          <p:cNvGrpSpPr/>
          <p:nvPr/>
        </p:nvGrpSpPr>
        <p:grpSpPr>
          <a:xfrm>
            <a:off x="1171440" y="6922440"/>
            <a:ext cx="3950280" cy="14040"/>
            <a:chOff x="1171440" y="6922440"/>
            <a:chExt cx="3950280" cy="14040"/>
          </a:xfrm>
        </p:grpSpPr>
        <p:sp>
          <p:nvSpPr>
            <p:cNvPr id="173" name="Freeform 51"/>
            <p:cNvSpPr/>
            <p:nvPr/>
          </p:nvSpPr>
          <p:spPr>
            <a:xfrm>
              <a:off x="1171440" y="6922440"/>
              <a:ext cx="3950280" cy="14040"/>
            </a:xfrm>
            <a:custGeom>
              <a:avLst/>
              <a:gdLst>
                <a:gd name="textAreaLeft" fmla="*/ 0 w 3950280"/>
                <a:gd name="textAreaRight" fmla="*/ 3950640 w 395028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5267452" h="19177">
                  <a:moveTo>
                    <a:pt x="0" y="0"/>
                  </a:moveTo>
                  <a:lnTo>
                    <a:pt x="5267452" y="0"/>
                  </a:lnTo>
                  <a:lnTo>
                    <a:pt x="5267452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" name="Group 52"/>
          <p:cNvGrpSpPr/>
          <p:nvPr/>
        </p:nvGrpSpPr>
        <p:grpSpPr>
          <a:xfrm>
            <a:off x="5150520" y="6922440"/>
            <a:ext cx="2622600" cy="14040"/>
            <a:chOff x="5150520" y="6922440"/>
            <a:chExt cx="2622600" cy="14040"/>
          </a:xfrm>
        </p:grpSpPr>
        <p:sp>
          <p:nvSpPr>
            <p:cNvPr id="175" name="Freeform 53"/>
            <p:cNvSpPr/>
            <p:nvPr/>
          </p:nvSpPr>
          <p:spPr>
            <a:xfrm>
              <a:off x="5150520" y="6922440"/>
              <a:ext cx="2622600" cy="14040"/>
            </a:xfrm>
            <a:custGeom>
              <a:avLst/>
              <a:gdLst>
                <a:gd name="textAreaLeft" fmla="*/ 0 w 2622600"/>
                <a:gd name="textAreaRight" fmla="*/ 2622960 w 26226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497453" h="19177">
                  <a:moveTo>
                    <a:pt x="0" y="0"/>
                  </a:moveTo>
                  <a:lnTo>
                    <a:pt x="3497453" y="0"/>
                  </a:lnTo>
                  <a:lnTo>
                    <a:pt x="3497453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" name="Group 54"/>
          <p:cNvGrpSpPr/>
          <p:nvPr/>
        </p:nvGrpSpPr>
        <p:grpSpPr>
          <a:xfrm>
            <a:off x="7802280" y="6922440"/>
            <a:ext cx="2575080" cy="14040"/>
            <a:chOff x="7802280" y="6922440"/>
            <a:chExt cx="2575080" cy="14040"/>
          </a:xfrm>
        </p:grpSpPr>
        <p:sp>
          <p:nvSpPr>
            <p:cNvPr id="177" name="Freeform 55"/>
            <p:cNvSpPr/>
            <p:nvPr/>
          </p:nvSpPr>
          <p:spPr>
            <a:xfrm>
              <a:off x="7802280" y="6922440"/>
              <a:ext cx="2575080" cy="14040"/>
            </a:xfrm>
            <a:custGeom>
              <a:avLst/>
              <a:gdLst>
                <a:gd name="textAreaLeft" fmla="*/ 0 w 2575080"/>
                <a:gd name="textAreaRight" fmla="*/ 2575440 w 257508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433826" h="19177">
                  <a:moveTo>
                    <a:pt x="0" y="0"/>
                  </a:moveTo>
                  <a:lnTo>
                    <a:pt x="3433826" y="0"/>
                  </a:lnTo>
                  <a:lnTo>
                    <a:pt x="3433826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" name="Group 56"/>
          <p:cNvGrpSpPr/>
          <p:nvPr/>
        </p:nvGrpSpPr>
        <p:grpSpPr>
          <a:xfrm>
            <a:off x="10406520" y="6922440"/>
            <a:ext cx="2527920" cy="14040"/>
            <a:chOff x="10406520" y="6922440"/>
            <a:chExt cx="2527920" cy="14040"/>
          </a:xfrm>
        </p:grpSpPr>
        <p:sp>
          <p:nvSpPr>
            <p:cNvPr id="179" name="Freeform 57"/>
            <p:cNvSpPr/>
            <p:nvPr/>
          </p:nvSpPr>
          <p:spPr>
            <a:xfrm>
              <a:off x="10406520" y="6922440"/>
              <a:ext cx="2527920" cy="14040"/>
            </a:xfrm>
            <a:custGeom>
              <a:avLst/>
              <a:gdLst>
                <a:gd name="textAreaLeft" fmla="*/ 0 w 2527920"/>
                <a:gd name="textAreaRight" fmla="*/ 2528280 w 25279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3370834" h="19177">
                  <a:moveTo>
                    <a:pt x="0" y="0"/>
                  </a:moveTo>
                  <a:lnTo>
                    <a:pt x="3370834" y="0"/>
                  </a:lnTo>
                  <a:lnTo>
                    <a:pt x="3370834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0" name="Group 58"/>
          <p:cNvGrpSpPr/>
          <p:nvPr/>
        </p:nvGrpSpPr>
        <p:grpSpPr>
          <a:xfrm>
            <a:off x="12963240" y="6922440"/>
            <a:ext cx="1974600" cy="14040"/>
            <a:chOff x="12963240" y="6922440"/>
            <a:chExt cx="1974600" cy="14040"/>
          </a:xfrm>
        </p:grpSpPr>
        <p:sp>
          <p:nvSpPr>
            <p:cNvPr id="181" name="Freeform 59"/>
            <p:cNvSpPr/>
            <p:nvPr/>
          </p:nvSpPr>
          <p:spPr>
            <a:xfrm>
              <a:off x="12963240" y="6922440"/>
              <a:ext cx="1974600" cy="14040"/>
            </a:xfrm>
            <a:custGeom>
              <a:avLst/>
              <a:gdLst>
                <a:gd name="textAreaLeft" fmla="*/ 0 w 1974600"/>
                <a:gd name="textAreaRight" fmla="*/ 1974960 w 19746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2633345" h="19177">
                  <a:moveTo>
                    <a:pt x="0" y="0"/>
                  </a:moveTo>
                  <a:lnTo>
                    <a:pt x="2633345" y="0"/>
                  </a:lnTo>
                  <a:lnTo>
                    <a:pt x="2633345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" name="Group 60"/>
          <p:cNvGrpSpPr/>
          <p:nvPr/>
        </p:nvGrpSpPr>
        <p:grpSpPr>
          <a:xfrm>
            <a:off x="14967000" y="6922440"/>
            <a:ext cx="2148840" cy="14040"/>
            <a:chOff x="14967000" y="6922440"/>
            <a:chExt cx="2148840" cy="14040"/>
          </a:xfrm>
        </p:grpSpPr>
        <p:sp>
          <p:nvSpPr>
            <p:cNvPr id="183" name="Freeform 61"/>
            <p:cNvSpPr/>
            <p:nvPr/>
          </p:nvSpPr>
          <p:spPr>
            <a:xfrm>
              <a:off x="14967000" y="6922440"/>
              <a:ext cx="2148840" cy="14040"/>
            </a:xfrm>
            <a:custGeom>
              <a:avLst/>
              <a:gdLst>
                <a:gd name="textAreaLeft" fmla="*/ 0 w 2148840"/>
                <a:gd name="textAreaRight" fmla="*/ 2149200 w 214884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2865628" h="19177">
                  <a:moveTo>
                    <a:pt x="0" y="0"/>
                  </a:moveTo>
                  <a:lnTo>
                    <a:pt x="2865628" y="0"/>
                  </a:lnTo>
                  <a:lnTo>
                    <a:pt x="2865628" y="191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" name="Group 62"/>
          <p:cNvGrpSpPr/>
          <p:nvPr/>
        </p:nvGrpSpPr>
        <p:grpSpPr>
          <a:xfrm>
            <a:off x="13793760" y="7193880"/>
            <a:ext cx="313920" cy="313920"/>
            <a:chOff x="13793760" y="7193880"/>
            <a:chExt cx="313920" cy="313920"/>
          </a:xfrm>
        </p:grpSpPr>
        <p:sp>
          <p:nvSpPr>
            <p:cNvPr id="185" name="Freeform 63"/>
            <p:cNvSpPr/>
            <p:nvPr/>
          </p:nvSpPr>
          <p:spPr>
            <a:xfrm>
              <a:off x="1379376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6" name="Group 64"/>
          <p:cNvGrpSpPr/>
          <p:nvPr/>
        </p:nvGrpSpPr>
        <p:grpSpPr>
          <a:xfrm>
            <a:off x="13807800" y="6393600"/>
            <a:ext cx="285480" cy="285480"/>
            <a:chOff x="13807800" y="6393600"/>
            <a:chExt cx="285480" cy="285480"/>
          </a:xfrm>
        </p:grpSpPr>
        <p:sp>
          <p:nvSpPr>
            <p:cNvPr id="187" name="Freeform 65"/>
            <p:cNvSpPr/>
            <p:nvPr/>
          </p:nvSpPr>
          <p:spPr>
            <a:xfrm>
              <a:off x="1380780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8" name="Group 66"/>
          <p:cNvGrpSpPr/>
          <p:nvPr/>
        </p:nvGrpSpPr>
        <p:grpSpPr>
          <a:xfrm>
            <a:off x="15884640" y="7193880"/>
            <a:ext cx="313920" cy="313920"/>
            <a:chOff x="15884640" y="7193880"/>
            <a:chExt cx="313920" cy="313920"/>
          </a:xfrm>
        </p:grpSpPr>
        <p:sp>
          <p:nvSpPr>
            <p:cNvPr id="189" name="Freeform 67"/>
            <p:cNvSpPr/>
            <p:nvPr/>
          </p:nvSpPr>
          <p:spPr>
            <a:xfrm>
              <a:off x="1588464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" name="Group 68"/>
          <p:cNvGrpSpPr/>
          <p:nvPr/>
        </p:nvGrpSpPr>
        <p:grpSpPr>
          <a:xfrm>
            <a:off x="6319440" y="5593680"/>
            <a:ext cx="285480" cy="285480"/>
            <a:chOff x="6319440" y="5593680"/>
            <a:chExt cx="285480" cy="285480"/>
          </a:xfrm>
        </p:grpSpPr>
        <p:sp>
          <p:nvSpPr>
            <p:cNvPr id="191" name="Freeform 69"/>
            <p:cNvSpPr/>
            <p:nvPr/>
          </p:nvSpPr>
          <p:spPr>
            <a:xfrm>
              <a:off x="631944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2" name="Group 70"/>
          <p:cNvGrpSpPr/>
          <p:nvPr/>
        </p:nvGrpSpPr>
        <p:grpSpPr>
          <a:xfrm>
            <a:off x="6319440" y="4793400"/>
            <a:ext cx="285480" cy="285480"/>
            <a:chOff x="6319440" y="4793400"/>
            <a:chExt cx="285480" cy="285480"/>
          </a:xfrm>
        </p:grpSpPr>
        <p:sp>
          <p:nvSpPr>
            <p:cNvPr id="193" name="Freeform 71"/>
            <p:cNvSpPr/>
            <p:nvPr/>
          </p:nvSpPr>
          <p:spPr>
            <a:xfrm>
              <a:off x="631944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" name="Group 72"/>
          <p:cNvGrpSpPr/>
          <p:nvPr/>
        </p:nvGrpSpPr>
        <p:grpSpPr>
          <a:xfrm>
            <a:off x="6319440" y="6393600"/>
            <a:ext cx="285480" cy="285480"/>
            <a:chOff x="6319440" y="6393600"/>
            <a:chExt cx="285480" cy="285480"/>
          </a:xfrm>
        </p:grpSpPr>
        <p:sp>
          <p:nvSpPr>
            <p:cNvPr id="195" name="Freeform 73"/>
            <p:cNvSpPr/>
            <p:nvPr/>
          </p:nvSpPr>
          <p:spPr>
            <a:xfrm>
              <a:off x="631944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" name="Group 74"/>
          <p:cNvGrpSpPr/>
          <p:nvPr/>
        </p:nvGrpSpPr>
        <p:grpSpPr>
          <a:xfrm>
            <a:off x="11527560" y="5593680"/>
            <a:ext cx="285480" cy="285480"/>
            <a:chOff x="11527560" y="5593680"/>
            <a:chExt cx="285480" cy="285480"/>
          </a:xfrm>
        </p:grpSpPr>
        <p:sp>
          <p:nvSpPr>
            <p:cNvPr id="197" name="Freeform 75"/>
            <p:cNvSpPr/>
            <p:nvPr/>
          </p:nvSpPr>
          <p:spPr>
            <a:xfrm>
              <a:off x="1152756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8" name="Group 76"/>
          <p:cNvGrpSpPr/>
          <p:nvPr/>
        </p:nvGrpSpPr>
        <p:grpSpPr>
          <a:xfrm>
            <a:off x="13807800" y="5593680"/>
            <a:ext cx="285480" cy="285480"/>
            <a:chOff x="13807800" y="5593680"/>
            <a:chExt cx="285480" cy="285480"/>
          </a:xfrm>
        </p:grpSpPr>
        <p:sp>
          <p:nvSpPr>
            <p:cNvPr id="199" name="Freeform 77"/>
            <p:cNvSpPr/>
            <p:nvPr/>
          </p:nvSpPr>
          <p:spPr>
            <a:xfrm>
              <a:off x="1380780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0" name="Group 78"/>
          <p:cNvGrpSpPr/>
          <p:nvPr/>
        </p:nvGrpSpPr>
        <p:grpSpPr>
          <a:xfrm>
            <a:off x="8932680" y="7193880"/>
            <a:ext cx="313920" cy="313920"/>
            <a:chOff x="8932680" y="7193880"/>
            <a:chExt cx="313920" cy="313920"/>
          </a:xfrm>
        </p:grpSpPr>
        <p:sp>
          <p:nvSpPr>
            <p:cNvPr id="201" name="Freeform 79"/>
            <p:cNvSpPr/>
            <p:nvPr/>
          </p:nvSpPr>
          <p:spPr>
            <a:xfrm>
              <a:off x="893268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" name="Group 80"/>
          <p:cNvGrpSpPr/>
          <p:nvPr/>
        </p:nvGrpSpPr>
        <p:grpSpPr>
          <a:xfrm>
            <a:off x="11527560" y="6393600"/>
            <a:ext cx="285480" cy="285480"/>
            <a:chOff x="11527560" y="6393600"/>
            <a:chExt cx="285480" cy="285480"/>
          </a:xfrm>
        </p:grpSpPr>
        <p:sp>
          <p:nvSpPr>
            <p:cNvPr id="203" name="Freeform 81"/>
            <p:cNvSpPr/>
            <p:nvPr/>
          </p:nvSpPr>
          <p:spPr>
            <a:xfrm>
              <a:off x="1152756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4" name="Group 82"/>
          <p:cNvGrpSpPr/>
          <p:nvPr/>
        </p:nvGrpSpPr>
        <p:grpSpPr>
          <a:xfrm>
            <a:off x="13807800" y="4793400"/>
            <a:ext cx="285480" cy="285480"/>
            <a:chOff x="13807800" y="4793400"/>
            <a:chExt cx="285480" cy="285480"/>
          </a:xfrm>
        </p:grpSpPr>
        <p:sp>
          <p:nvSpPr>
            <p:cNvPr id="205" name="Freeform 83"/>
            <p:cNvSpPr/>
            <p:nvPr/>
          </p:nvSpPr>
          <p:spPr>
            <a:xfrm>
              <a:off x="1380780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" name="Group 84"/>
          <p:cNvGrpSpPr/>
          <p:nvPr/>
        </p:nvGrpSpPr>
        <p:grpSpPr>
          <a:xfrm>
            <a:off x="8947080" y="5593680"/>
            <a:ext cx="285480" cy="285480"/>
            <a:chOff x="8947080" y="5593680"/>
            <a:chExt cx="285480" cy="285480"/>
          </a:xfrm>
        </p:grpSpPr>
        <p:sp>
          <p:nvSpPr>
            <p:cNvPr id="207" name="Freeform 85"/>
            <p:cNvSpPr/>
            <p:nvPr/>
          </p:nvSpPr>
          <p:spPr>
            <a:xfrm>
              <a:off x="894708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8" name="Group 86"/>
          <p:cNvGrpSpPr/>
          <p:nvPr/>
        </p:nvGrpSpPr>
        <p:grpSpPr>
          <a:xfrm>
            <a:off x="6305040" y="7193880"/>
            <a:ext cx="313920" cy="313920"/>
            <a:chOff x="6305040" y="7193880"/>
            <a:chExt cx="313920" cy="313920"/>
          </a:xfrm>
        </p:grpSpPr>
        <p:sp>
          <p:nvSpPr>
            <p:cNvPr id="209" name="Freeform 87"/>
            <p:cNvSpPr/>
            <p:nvPr/>
          </p:nvSpPr>
          <p:spPr>
            <a:xfrm>
              <a:off x="630504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" name="Group 88"/>
          <p:cNvGrpSpPr/>
          <p:nvPr/>
        </p:nvGrpSpPr>
        <p:grpSpPr>
          <a:xfrm>
            <a:off x="15899040" y="5593680"/>
            <a:ext cx="285480" cy="285480"/>
            <a:chOff x="15899040" y="5593680"/>
            <a:chExt cx="285480" cy="285480"/>
          </a:xfrm>
        </p:grpSpPr>
        <p:sp>
          <p:nvSpPr>
            <p:cNvPr id="211" name="Freeform 89"/>
            <p:cNvSpPr/>
            <p:nvPr/>
          </p:nvSpPr>
          <p:spPr>
            <a:xfrm>
              <a:off x="1589904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" name="Group 90"/>
          <p:cNvGrpSpPr/>
          <p:nvPr/>
        </p:nvGrpSpPr>
        <p:grpSpPr>
          <a:xfrm>
            <a:off x="11527560" y="4793400"/>
            <a:ext cx="285480" cy="285480"/>
            <a:chOff x="11527560" y="4793400"/>
            <a:chExt cx="285480" cy="285480"/>
          </a:xfrm>
        </p:grpSpPr>
        <p:sp>
          <p:nvSpPr>
            <p:cNvPr id="213" name="Freeform 91"/>
            <p:cNvSpPr/>
            <p:nvPr/>
          </p:nvSpPr>
          <p:spPr>
            <a:xfrm>
              <a:off x="1152756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" name="Group 92"/>
          <p:cNvGrpSpPr/>
          <p:nvPr/>
        </p:nvGrpSpPr>
        <p:grpSpPr>
          <a:xfrm>
            <a:off x="8947080" y="6393600"/>
            <a:ext cx="285480" cy="285480"/>
            <a:chOff x="8947080" y="6393600"/>
            <a:chExt cx="285480" cy="285480"/>
          </a:xfrm>
        </p:grpSpPr>
        <p:sp>
          <p:nvSpPr>
            <p:cNvPr id="215" name="Freeform 93"/>
            <p:cNvSpPr/>
            <p:nvPr/>
          </p:nvSpPr>
          <p:spPr>
            <a:xfrm>
              <a:off x="894708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" name="Group 94"/>
          <p:cNvGrpSpPr/>
          <p:nvPr/>
        </p:nvGrpSpPr>
        <p:grpSpPr>
          <a:xfrm>
            <a:off x="8947080" y="4793400"/>
            <a:ext cx="285480" cy="285480"/>
            <a:chOff x="8947080" y="4793400"/>
            <a:chExt cx="285480" cy="285480"/>
          </a:xfrm>
        </p:grpSpPr>
        <p:sp>
          <p:nvSpPr>
            <p:cNvPr id="217" name="Freeform 95"/>
            <p:cNvSpPr/>
            <p:nvPr/>
          </p:nvSpPr>
          <p:spPr>
            <a:xfrm>
              <a:off x="894708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8" name="Group 96"/>
          <p:cNvGrpSpPr/>
          <p:nvPr/>
        </p:nvGrpSpPr>
        <p:grpSpPr>
          <a:xfrm>
            <a:off x="15899040" y="4793400"/>
            <a:ext cx="285480" cy="285480"/>
            <a:chOff x="15899040" y="4793400"/>
            <a:chExt cx="285480" cy="285480"/>
          </a:xfrm>
        </p:grpSpPr>
        <p:sp>
          <p:nvSpPr>
            <p:cNvPr id="219" name="Freeform 97"/>
            <p:cNvSpPr/>
            <p:nvPr/>
          </p:nvSpPr>
          <p:spPr>
            <a:xfrm>
              <a:off x="1589904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0" name="Group 98"/>
          <p:cNvGrpSpPr/>
          <p:nvPr/>
        </p:nvGrpSpPr>
        <p:grpSpPr>
          <a:xfrm>
            <a:off x="15899040" y="6393600"/>
            <a:ext cx="285480" cy="285480"/>
            <a:chOff x="15899040" y="6393600"/>
            <a:chExt cx="285480" cy="285480"/>
          </a:xfrm>
        </p:grpSpPr>
        <p:sp>
          <p:nvSpPr>
            <p:cNvPr id="221" name="Freeform 99"/>
            <p:cNvSpPr/>
            <p:nvPr/>
          </p:nvSpPr>
          <p:spPr>
            <a:xfrm>
              <a:off x="1589904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" name="Group 100"/>
          <p:cNvGrpSpPr/>
          <p:nvPr/>
        </p:nvGrpSpPr>
        <p:grpSpPr>
          <a:xfrm>
            <a:off x="11513160" y="7193880"/>
            <a:ext cx="313920" cy="313920"/>
            <a:chOff x="11513160" y="7193880"/>
            <a:chExt cx="313920" cy="313920"/>
          </a:xfrm>
        </p:grpSpPr>
        <p:sp>
          <p:nvSpPr>
            <p:cNvPr id="223" name="Freeform 101"/>
            <p:cNvSpPr/>
            <p:nvPr/>
          </p:nvSpPr>
          <p:spPr>
            <a:xfrm>
              <a:off x="1151316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" name="Group 102"/>
          <p:cNvGrpSpPr/>
          <p:nvPr/>
        </p:nvGrpSpPr>
        <p:grpSpPr>
          <a:xfrm>
            <a:off x="6319440" y="4793400"/>
            <a:ext cx="285480" cy="285480"/>
            <a:chOff x="6319440" y="4793400"/>
            <a:chExt cx="285480" cy="285480"/>
          </a:xfrm>
        </p:grpSpPr>
        <p:sp>
          <p:nvSpPr>
            <p:cNvPr id="225" name="Freeform 103"/>
            <p:cNvSpPr/>
            <p:nvPr/>
          </p:nvSpPr>
          <p:spPr>
            <a:xfrm>
              <a:off x="631944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6" name="Group 104"/>
          <p:cNvGrpSpPr/>
          <p:nvPr/>
        </p:nvGrpSpPr>
        <p:grpSpPr>
          <a:xfrm>
            <a:off x="8947080" y="4793400"/>
            <a:ext cx="285480" cy="285480"/>
            <a:chOff x="8947080" y="4793400"/>
            <a:chExt cx="285480" cy="285480"/>
          </a:xfrm>
        </p:grpSpPr>
        <p:sp>
          <p:nvSpPr>
            <p:cNvPr id="227" name="Freeform 105"/>
            <p:cNvSpPr/>
            <p:nvPr/>
          </p:nvSpPr>
          <p:spPr>
            <a:xfrm>
              <a:off x="894708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" name="Group 106"/>
          <p:cNvGrpSpPr/>
          <p:nvPr/>
        </p:nvGrpSpPr>
        <p:grpSpPr>
          <a:xfrm>
            <a:off x="11527560" y="4793400"/>
            <a:ext cx="285480" cy="285480"/>
            <a:chOff x="11527560" y="4793400"/>
            <a:chExt cx="285480" cy="285480"/>
          </a:xfrm>
        </p:grpSpPr>
        <p:sp>
          <p:nvSpPr>
            <p:cNvPr id="229" name="Freeform 107"/>
            <p:cNvSpPr/>
            <p:nvPr/>
          </p:nvSpPr>
          <p:spPr>
            <a:xfrm>
              <a:off x="1152756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0" name="Group 108"/>
          <p:cNvGrpSpPr/>
          <p:nvPr/>
        </p:nvGrpSpPr>
        <p:grpSpPr>
          <a:xfrm>
            <a:off x="13807800" y="4793400"/>
            <a:ext cx="285480" cy="285480"/>
            <a:chOff x="13807800" y="4793400"/>
            <a:chExt cx="285480" cy="285480"/>
          </a:xfrm>
        </p:grpSpPr>
        <p:sp>
          <p:nvSpPr>
            <p:cNvPr id="231" name="Freeform 109"/>
            <p:cNvSpPr/>
            <p:nvPr/>
          </p:nvSpPr>
          <p:spPr>
            <a:xfrm>
              <a:off x="1380780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" name="Group 110"/>
          <p:cNvGrpSpPr/>
          <p:nvPr/>
        </p:nvGrpSpPr>
        <p:grpSpPr>
          <a:xfrm>
            <a:off x="15899040" y="4793400"/>
            <a:ext cx="285480" cy="285480"/>
            <a:chOff x="15899040" y="4793400"/>
            <a:chExt cx="285480" cy="285480"/>
          </a:xfrm>
        </p:grpSpPr>
        <p:sp>
          <p:nvSpPr>
            <p:cNvPr id="233" name="Freeform 111"/>
            <p:cNvSpPr/>
            <p:nvPr/>
          </p:nvSpPr>
          <p:spPr>
            <a:xfrm>
              <a:off x="15899040" y="47934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" name="Group 112"/>
          <p:cNvGrpSpPr/>
          <p:nvPr/>
        </p:nvGrpSpPr>
        <p:grpSpPr>
          <a:xfrm>
            <a:off x="6319440" y="5593680"/>
            <a:ext cx="285480" cy="285480"/>
            <a:chOff x="6319440" y="5593680"/>
            <a:chExt cx="285480" cy="285480"/>
          </a:xfrm>
        </p:grpSpPr>
        <p:sp>
          <p:nvSpPr>
            <p:cNvPr id="235" name="Freeform 113"/>
            <p:cNvSpPr/>
            <p:nvPr/>
          </p:nvSpPr>
          <p:spPr>
            <a:xfrm>
              <a:off x="631944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" name="Group 114"/>
          <p:cNvGrpSpPr/>
          <p:nvPr/>
        </p:nvGrpSpPr>
        <p:grpSpPr>
          <a:xfrm>
            <a:off x="8947080" y="5593680"/>
            <a:ext cx="285480" cy="285480"/>
            <a:chOff x="8947080" y="5593680"/>
            <a:chExt cx="285480" cy="285480"/>
          </a:xfrm>
        </p:grpSpPr>
        <p:sp>
          <p:nvSpPr>
            <p:cNvPr id="237" name="Freeform 115"/>
            <p:cNvSpPr/>
            <p:nvPr/>
          </p:nvSpPr>
          <p:spPr>
            <a:xfrm>
              <a:off x="894708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8" name="Group 116"/>
          <p:cNvGrpSpPr/>
          <p:nvPr/>
        </p:nvGrpSpPr>
        <p:grpSpPr>
          <a:xfrm>
            <a:off x="11527560" y="5593680"/>
            <a:ext cx="285480" cy="285480"/>
            <a:chOff x="11527560" y="5593680"/>
            <a:chExt cx="285480" cy="285480"/>
          </a:xfrm>
        </p:grpSpPr>
        <p:sp>
          <p:nvSpPr>
            <p:cNvPr id="239" name="Freeform 117"/>
            <p:cNvSpPr/>
            <p:nvPr/>
          </p:nvSpPr>
          <p:spPr>
            <a:xfrm>
              <a:off x="1152756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" name="Group 118"/>
          <p:cNvGrpSpPr/>
          <p:nvPr/>
        </p:nvGrpSpPr>
        <p:grpSpPr>
          <a:xfrm>
            <a:off x="13807800" y="5593680"/>
            <a:ext cx="285480" cy="285480"/>
            <a:chOff x="13807800" y="5593680"/>
            <a:chExt cx="285480" cy="285480"/>
          </a:xfrm>
        </p:grpSpPr>
        <p:sp>
          <p:nvSpPr>
            <p:cNvPr id="241" name="Freeform 119"/>
            <p:cNvSpPr/>
            <p:nvPr/>
          </p:nvSpPr>
          <p:spPr>
            <a:xfrm>
              <a:off x="1380780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" name="Group 120"/>
          <p:cNvGrpSpPr/>
          <p:nvPr/>
        </p:nvGrpSpPr>
        <p:grpSpPr>
          <a:xfrm>
            <a:off x="15899040" y="5593680"/>
            <a:ext cx="285480" cy="285480"/>
            <a:chOff x="15899040" y="5593680"/>
            <a:chExt cx="285480" cy="285480"/>
          </a:xfrm>
        </p:grpSpPr>
        <p:sp>
          <p:nvSpPr>
            <p:cNvPr id="243" name="Freeform 121"/>
            <p:cNvSpPr/>
            <p:nvPr/>
          </p:nvSpPr>
          <p:spPr>
            <a:xfrm>
              <a:off x="15899040" y="559368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4" name="Group 122"/>
          <p:cNvGrpSpPr/>
          <p:nvPr/>
        </p:nvGrpSpPr>
        <p:grpSpPr>
          <a:xfrm>
            <a:off x="6319440" y="6393600"/>
            <a:ext cx="285480" cy="285480"/>
            <a:chOff x="6319440" y="6393600"/>
            <a:chExt cx="285480" cy="285480"/>
          </a:xfrm>
        </p:grpSpPr>
        <p:sp>
          <p:nvSpPr>
            <p:cNvPr id="245" name="Freeform 123"/>
            <p:cNvSpPr/>
            <p:nvPr/>
          </p:nvSpPr>
          <p:spPr>
            <a:xfrm>
              <a:off x="631944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6" name="Group 124"/>
          <p:cNvGrpSpPr/>
          <p:nvPr/>
        </p:nvGrpSpPr>
        <p:grpSpPr>
          <a:xfrm>
            <a:off x="8947080" y="6393600"/>
            <a:ext cx="285480" cy="285480"/>
            <a:chOff x="8947080" y="6393600"/>
            <a:chExt cx="285480" cy="285480"/>
          </a:xfrm>
        </p:grpSpPr>
        <p:sp>
          <p:nvSpPr>
            <p:cNvPr id="247" name="Freeform 125"/>
            <p:cNvSpPr/>
            <p:nvPr/>
          </p:nvSpPr>
          <p:spPr>
            <a:xfrm>
              <a:off x="894708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8" name="Group 126"/>
          <p:cNvGrpSpPr/>
          <p:nvPr/>
        </p:nvGrpSpPr>
        <p:grpSpPr>
          <a:xfrm>
            <a:off x="11527560" y="6393600"/>
            <a:ext cx="285480" cy="285480"/>
            <a:chOff x="11527560" y="6393600"/>
            <a:chExt cx="285480" cy="285480"/>
          </a:xfrm>
        </p:grpSpPr>
        <p:sp>
          <p:nvSpPr>
            <p:cNvPr id="249" name="Freeform 127"/>
            <p:cNvSpPr/>
            <p:nvPr/>
          </p:nvSpPr>
          <p:spPr>
            <a:xfrm>
              <a:off x="1152756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0" name="Group 128"/>
          <p:cNvGrpSpPr/>
          <p:nvPr/>
        </p:nvGrpSpPr>
        <p:grpSpPr>
          <a:xfrm>
            <a:off x="13807800" y="6393600"/>
            <a:ext cx="285480" cy="285480"/>
            <a:chOff x="13807800" y="6393600"/>
            <a:chExt cx="285480" cy="285480"/>
          </a:xfrm>
        </p:grpSpPr>
        <p:sp>
          <p:nvSpPr>
            <p:cNvPr id="251" name="Freeform 129"/>
            <p:cNvSpPr/>
            <p:nvPr/>
          </p:nvSpPr>
          <p:spPr>
            <a:xfrm>
              <a:off x="1380780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2" name="Group 130"/>
          <p:cNvGrpSpPr/>
          <p:nvPr/>
        </p:nvGrpSpPr>
        <p:grpSpPr>
          <a:xfrm>
            <a:off x="15899040" y="6393600"/>
            <a:ext cx="285480" cy="285480"/>
            <a:chOff x="15899040" y="6393600"/>
            <a:chExt cx="285480" cy="285480"/>
          </a:xfrm>
        </p:grpSpPr>
        <p:sp>
          <p:nvSpPr>
            <p:cNvPr id="253" name="Freeform 131"/>
            <p:cNvSpPr/>
            <p:nvPr/>
          </p:nvSpPr>
          <p:spPr>
            <a:xfrm>
              <a:off x="15899040" y="6393600"/>
              <a:ext cx="285480" cy="28548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285480"/>
                <a:gd name="textAreaBottom" fmla="*/ 285840 h 285480"/>
              </a:gdLst>
              <a:ahLst/>
              <a:rect l="textAreaLeft" t="textAreaTop" r="textAreaRight" b="textAreaBottom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" name="Group 132"/>
          <p:cNvGrpSpPr/>
          <p:nvPr/>
        </p:nvGrpSpPr>
        <p:grpSpPr>
          <a:xfrm>
            <a:off x="6305040" y="7193880"/>
            <a:ext cx="313920" cy="313920"/>
            <a:chOff x="6305040" y="7193880"/>
            <a:chExt cx="313920" cy="313920"/>
          </a:xfrm>
        </p:grpSpPr>
        <p:sp>
          <p:nvSpPr>
            <p:cNvPr id="255" name="Freeform 133"/>
            <p:cNvSpPr/>
            <p:nvPr/>
          </p:nvSpPr>
          <p:spPr>
            <a:xfrm>
              <a:off x="630504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" name="Group 134"/>
          <p:cNvGrpSpPr/>
          <p:nvPr/>
        </p:nvGrpSpPr>
        <p:grpSpPr>
          <a:xfrm>
            <a:off x="8932680" y="7193880"/>
            <a:ext cx="313920" cy="313920"/>
            <a:chOff x="8932680" y="7193880"/>
            <a:chExt cx="313920" cy="313920"/>
          </a:xfrm>
        </p:grpSpPr>
        <p:sp>
          <p:nvSpPr>
            <p:cNvPr id="257" name="Freeform 135"/>
            <p:cNvSpPr/>
            <p:nvPr/>
          </p:nvSpPr>
          <p:spPr>
            <a:xfrm>
              <a:off x="893268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8" name="Group 136"/>
          <p:cNvGrpSpPr/>
          <p:nvPr/>
        </p:nvGrpSpPr>
        <p:grpSpPr>
          <a:xfrm>
            <a:off x="11513160" y="7193880"/>
            <a:ext cx="313920" cy="313920"/>
            <a:chOff x="11513160" y="7193880"/>
            <a:chExt cx="313920" cy="313920"/>
          </a:xfrm>
        </p:grpSpPr>
        <p:sp>
          <p:nvSpPr>
            <p:cNvPr id="259" name="Freeform 137"/>
            <p:cNvSpPr/>
            <p:nvPr/>
          </p:nvSpPr>
          <p:spPr>
            <a:xfrm>
              <a:off x="1151316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0" name="Group 138"/>
          <p:cNvGrpSpPr/>
          <p:nvPr/>
        </p:nvGrpSpPr>
        <p:grpSpPr>
          <a:xfrm>
            <a:off x="13793760" y="7193880"/>
            <a:ext cx="313920" cy="313920"/>
            <a:chOff x="13793760" y="7193880"/>
            <a:chExt cx="313920" cy="313920"/>
          </a:xfrm>
        </p:grpSpPr>
        <p:sp>
          <p:nvSpPr>
            <p:cNvPr id="261" name="Freeform 139"/>
            <p:cNvSpPr/>
            <p:nvPr/>
          </p:nvSpPr>
          <p:spPr>
            <a:xfrm>
              <a:off x="1379376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2" name="Group 140"/>
          <p:cNvGrpSpPr/>
          <p:nvPr/>
        </p:nvGrpSpPr>
        <p:grpSpPr>
          <a:xfrm>
            <a:off x="15884640" y="7193880"/>
            <a:ext cx="313920" cy="313920"/>
            <a:chOff x="15884640" y="7193880"/>
            <a:chExt cx="313920" cy="313920"/>
          </a:xfrm>
        </p:grpSpPr>
        <p:sp>
          <p:nvSpPr>
            <p:cNvPr id="263" name="Freeform 141"/>
            <p:cNvSpPr/>
            <p:nvPr/>
          </p:nvSpPr>
          <p:spPr>
            <a:xfrm>
              <a:off x="15884640" y="719388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rect l="textAreaLeft" t="textAreaTop" r="textAreaRight" b="textAreaBottom"/>
              <a:pathLst>
                <a:path w="419100" h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2"/>
          <p:cNvSpPr/>
          <p:nvPr/>
        </p:nvSpPr>
        <p:spPr>
          <a:xfrm>
            <a:off x="1428840" y="666720"/>
            <a:ext cx="76057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Flux de Location Digitalisé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5" name="Group 3"/>
          <p:cNvGrpSpPr/>
          <p:nvPr/>
        </p:nvGrpSpPr>
        <p:grpSpPr>
          <a:xfrm>
            <a:off x="14730480" y="921600"/>
            <a:ext cx="2414160" cy="399600"/>
            <a:chOff x="14730480" y="921600"/>
            <a:chExt cx="2414160" cy="399600"/>
          </a:xfrm>
        </p:grpSpPr>
        <p:sp>
          <p:nvSpPr>
            <p:cNvPr id="266" name="Freeform 4"/>
            <p:cNvSpPr/>
            <p:nvPr/>
          </p:nvSpPr>
          <p:spPr>
            <a:xfrm>
              <a:off x="14730480" y="921600"/>
              <a:ext cx="2414160" cy="399600"/>
            </a:xfrm>
            <a:custGeom>
              <a:avLst/>
              <a:gdLst>
                <a:gd name="textAreaLeft" fmla="*/ 0 w 2414160"/>
                <a:gd name="textAreaRight" fmla="*/ 2414520 w 241416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3219450" h="533400">
                  <a:moveTo>
                    <a:pt x="0" y="0"/>
                  </a:moveTo>
                  <a:lnTo>
                    <a:pt x="3219450" y="0"/>
                  </a:lnTo>
                  <a:lnTo>
                    <a:pt x="32194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7" name="Group 5"/>
          <p:cNvGrpSpPr/>
          <p:nvPr/>
        </p:nvGrpSpPr>
        <p:grpSpPr>
          <a:xfrm>
            <a:off x="985680" y="714240"/>
            <a:ext cx="85320" cy="569520"/>
            <a:chOff x="985680" y="714240"/>
            <a:chExt cx="85320" cy="569520"/>
          </a:xfrm>
        </p:grpSpPr>
        <p:sp>
          <p:nvSpPr>
            <p:cNvPr id="268" name="Freeform 6"/>
            <p:cNvSpPr/>
            <p:nvPr/>
          </p:nvSpPr>
          <p:spPr>
            <a:xfrm>
              <a:off x="985680" y="71424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9" name="Group 7"/>
          <p:cNvGrpSpPr/>
          <p:nvPr/>
        </p:nvGrpSpPr>
        <p:grpSpPr>
          <a:xfrm>
            <a:off x="1943280" y="2814480"/>
            <a:ext cx="14401440" cy="56880"/>
            <a:chOff x="1943280" y="2814480"/>
            <a:chExt cx="14401440" cy="56880"/>
          </a:xfrm>
        </p:grpSpPr>
        <p:sp>
          <p:nvSpPr>
            <p:cNvPr id="270" name="Freeform 8"/>
            <p:cNvSpPr/>
            <p:nvPr/>
          </p:nvSpPr>
          <p:spPr>
            <a:xfrm>
              <a:off x="1943280" y="2814480"/>
              <a:ext cx="14401440" cy="56880"/>
            </a:xfrm>
            <a:custGeom>
              <a:avLst/>
              <a:gdLst>
                <a:gd name="textAreaLeft" fmla="*/ 0 w 14401440"/>
                <a:gd name="textAreaRight" fmla="*/ 14401800 w 14401440"/>
                <a:gd name="textAreaTop" fmla="*/ 0 h 56880"/>
                <a:gd name="textAreaBottom" fmla="*/ 57240 h 56880"/>
              </a:gdLst>
              <a:ahLst/>
              <a:rect l="textAreaLeft" t="textAreaTop" r="textAreaRight" b="textAreaBottom"/>
              <a:pathLst>
                <a:path w="19202400" h="76200">
                  <a:moveTo>
                    <a:pt x="0" y="0"/>
                  </a:moveTo>
                  <a:lnTo>
                    <a:pt x="19202400" y="0"/>
                  </a:lnTo>
                  <a:lnTo>
                    <a:pt x="19202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240" bIns="1224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" name="Group 9"/>
          <p:cNvGrpSpPr/>
          <p:nvPr/>
        </p:nvGrpSpPr>
        <p:grpSpPr>
          <a:xfrm>
            <a:off x="2571840" y="2243160"/>
            <a:ext cx="1142640" cy="1142640"/>
            <a:chOff x="2571840" y="2243160"/>
            <a:chExt cx="1142640" cy="1142640"/>
          </a:xfrm>
        </p:grpSpPr>
        <p:sp>
          <p:nvSpPr>
            <p:cNvPr id="272" name="Freeform 10"/>
            <p:cNvSpPr/>
            <p:nvPr/>
          </p:nvSpPr>
          <p:spPr>
            <a:xfrm>
              <a:off x="2571840" y="2243160"/>
              <a:ext cx="1142640" cy="114264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1142640"/>
                <a:gd name="textAreaBottom" fmla="*/ 1143000 h 1142640"/>
              </a:gdLst>
              <a:ahLst/>
              <a:rect l="textAreaLeft" t="textAreaTop" r="textAreaRight" b="textAreaBottom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3" name="TextBox 11"/>
          <p:cNvSpPr/>
          <p:nvPr/>
        </p:nvSpPr>
        <p:spPr>
          <a:xfrm>
            <a:off x="1193040" y="3652920"/>
            <a:ext cx="3900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29"/>
              </a:lnSpc>
            </a:pPr>
            <a:r>
              <a:rPr b="1" lang="en-US" sz="2020" spc="-1" strike="noStrike">
                <a:solidFill>
                  <a:srgbClr val="0f172a"/>
                </a:solidFill>
                <a:latin typeface="Poppins Bold"/>
                <a:ea typeface="Poppins Bold"/>
              </a:rPr>
              <a:t>1. Client &amp; Résa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12"/>
          <p:cNvSpPr/>
          <p:nvPr/>
        </p:nvSpPr>
        <p:spPr>
          <a:xfrm>
            <a:off x="1285920" y="4105440"/>
            <a:ext cx="371448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55"/>
              </a:lnSpc>
            </a:pPr>
            <a:r>
              <a:rPr b="0" lang="en-US" sz="1460" spc="-1" strike="noStrike">
                <a:solidFill>
                  <a:srgbClr val="64748b"/>
                </a:solidFill>
                <a:latin typeface="Inter"/>
                <a:ea typeface="Inter"/>
              </a:rPr>
              <a:t>Enregistrement client et sélection des matériels disponibles</a:t>
            </a:r>
            <a:endParaRPr b="0" lang="fr-FR" sz="14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5" name="Group 13"/>
          <p:cNvGrpSpPr/>
          <p:nvPr/>
        </p:nvGrpSpPr>
        <p:grpSpPr>
          <a:xfrm>
            <a:off x="6572160" y="2243160"/>
            <a:ext cx="1142640" cy="1142640"/>
            <a:chOff x="6572160" y="2243160"/>
            <a:chExt cx="1142640" cy="1142640"/>
          </a:xfrm>
        </p:grpSpPr>
        <p:sp>
          <p:nvSpPr>
            <p:cNvPr id="276" name="Freeform 14"/>
            <p:cNvSpPr/>
            <p:nvPr/>
          </p:nvSpPr>
          <p:spPr>
            <a:xfrm>
              <a:off x="6572160" y="2243160"/>
              <a:ext cx="1142640" cy="114264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1142640"/>
                <a:gd name="textAreaBottom" fmla="*/ 1143000 h 1142640"/>
              </a:gdLst>
              <a:ahLst/>
              <a:rect l="textAreaLeft" t="textAreaTop" r="textAreaRight" b="textAreaBottom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7" name="TextBox 15"/>
          <p:cNvSpPr/>
          <p:nvPr/>
        </p:nvSpPr>
        <p:spPr>
          <a:xfrm>
            <a:off x="5193360" y="3652920"/>
            <a:ext cx="3900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29"/>
              </a:lnSpc>
            </a:pPr>
            <a:r>
              <a:rPr b="1" lang="en-US" sz="2020" spc="-1" strike="noStrike">
                <a:solidFill>
                  <a:srgbClr val="0f172a"/>
                </a:solidFill>
                <a:latin typeface="Poppins Bold"/>
                <a:ea typeface="Poppins Bold"/>
              </a:rPr>
              <a:t>2. Facture PDF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16"/>
          <p:cNvSpPr/>
          <p:nvPr/>
        </p:nvSpPr>
        <p:spPr>
          <a:xfrm>
            <a:off x="5286240" y="4105440"/>
            <a:ext cx="371448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55"/>
              </a:lnSpc>
            </a:pPr>
            <a:r>
              <a:rPr b="0" lang="en-US" sz="1460" spc="-1" strike="noStrike">
                <a:solidFill>
                  <a:srgbClr val="64748b"/>
                </a:solidFill>
                <a:latin typeface="Inter"/>
                <a:ea typeface="Inter"/>
              </a:rPr>
              <a:t>Génération automatique de la facture &amp; paiement intégré</a:t>
            </a:r>
            <a:endParaRPr b="0" lang="fr-FR" sz="14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9" name="Group 17"/>
          <p:cNvGrpSpPr/>
          <p:nvPr/>
        </p:nvGrpSpPr>
        <p:grpSpPr>
          <a:xfrm>
            <a:off x="10572840" y="2243160"/>
            <a:ext cx="1142640" cy="1142640"/>
            <a:chOff x="10572840" y="2243160"/>
            <a:chExt cx="1142640" cy="1142640"/>
          </a:xfrm>
        </p:grpSpPr>
        <p:sp>
          <p:nvSpPr>
            <p:cNvPr id="280" name="Freeform 18"/>
            <p:cNvSpPr/>
            <p:nvPr/>
          </p:nvSpPr>
          <p:spPr>
            <a:xfrm>
              <a:off x="10572840" y="2243160"/>
              <a:ext cx="1142640" cy="114264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1142640"/>
                <a:gd name="textAreaBottom" fmla="*/ 1143000 h 1142640"/>
              </a:gdLst>
              <a:ahLst/>
              <a:rect l="textAreaLeft" t="textAreaTop" r="textAreaRight" b="textAreaBottom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1" name="TextBox 19"/>
          <p:cNvSpPr/>
          <p:nvPr/>
        </p:nvSpPr>
        <p:spPr>
          <a:xfrm>
            <a:off x="9194040" y="3652920"/>
            <a:ext cx="3900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29"/>
              </a:lnSpc>
            </a:pPr>
            <a:r>
              <a:rPr b="1" lang="en-US" sz="2020" spc="-1" strike="noStrike">
                <a:solidFill>
                  <a:srgbClr val="0f172a"/>
                </a:solidFill>
                <a:latin typeface="Poppins Bold"/>
                <a:ea typeface="Poppins Bold"/>
              </a:rPr>
              <a:t>3. Sortie &amp; Retour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20"/>
          <p:cNvSpPr/>
          <p:nvPr/>
        </p:nvSpPr>
        <p:spPr>
          <a:xfrm>
            <a:off x="9286920" y="4105440"/>
            <a:ext cx="371448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55"/>
              </a:lnSpc>
            </a:pPr>
            <a:r>
              <a:rPr b="0" lang="en-US" sz="1460" spc="-1" strike="noStrike">
                <a:solidFill>
                  <a:srgbClr val="64748b"/>
                </a:solidFill>
                <a:latin typeface="Inter"/>
                <a:ea typeface="Inter"/>
              </a:rPr>
              <a:t>Suivi en direct des états de stock et alertes retards</a:t>
            </a:r>
            <a:endParaRPr b="0" lang="fr-FR" sz="14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3" name="Group 21"/>
          <p:cNvGrpSpPr/>
          <p:nvPr/>
        </p:nvGrpSpPr>
        <p:grpSpPr>
          <a:xfrm>
            <a:off x="14573160" y="2243160"/>
            <a:ext cx="1142640" cy="1142640"/>
            <a:chOff x="14573160" y="2243160"/>
            <a:chExt cx="1142640" cy="1142640"/>
          </a:xfrm>
        </p:grpSpPr>
        <p:sp>
          <p:nvSpPr>
            <p:cNvPr id="284" name="Freeform 22"/>
            <p:cNvSpPr/>
            <p:nvPr/>
          </p:nvSpPr>
          <p:spPr>
            <a:xfrm>
              <a:off x="14573160" y="2243160"/>
              <a:ext cx="1142640" cy="114264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1142640"/>
                <a:gd name="textAreaBottom" fmla="*/ 1143000 h 1142640"/>
              </a:gdLst>
              <a:ahLst/>
              <a:rect l="textAreaLeft" t="textAreaTop" r="textAreaRight" b="textAreaBottom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5" name="TextBox 23"/>
          <p:cNvSpPr/>
          <p:nvPr/>
        </p:nvSpPr>
        <p:spPr>
          <a:xfrm>
            <a:off x="13194360" y="3652920"/>
            <a:ext cx="3900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29"/>
              </a:lnSpc>
            </a:pPr>
            <a:r>
              <a:rPr b="1" lang="en-US" sz="2020" spc="-1" strike="noStrike">
                <a:solidFill>
                  <a:srgbClr val="0f172a"/>
                </a:solidFill>
                <a:latin typeface="Poppins Bold"/>
                <a:ea typeface="Poppins Bold"/>
              </a:rPr>
              <a:t>4. IA &amp; Analytics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24"/>
          <p:cNvSpPr/>
          <p:nvPr/>
        </p:nvSpPr>
        <p:spPr>
          <a:xfrm>
            <a:off x="13287240" y="4105440"/>
            <a:ext cx="371448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455"/>
              </a:lnSpc>
            </a:pPr>
            <a:r>
              <a:rPr b="0" lang="en-US" sz="1460" spc="-1" strike="noStrike">
                <a:solidFill>
                  <a:srgbClr val="64748b"/>
                </a:solidFill>
                <a:latin typeface="Inter"/>
                <a:ea typeface="Inter"/>
              </a:rPr>
              <a:t>Calcul des pénalités, prévision de la demande de matériel</a:t>
            </a:r>
            <a:endParaRPr b="0" lang="fr-FR" sz="146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7" name="Group 25"/>
          <p:cNvGrpSpPr/>
          <p:nvPr/>
        </p:nvGrpSpPr>
        <p:grpSpPr>
          <a:xfrm>
            <a:off x="2928960" y="2643120"/>
            <a:ext cx="428400" cy="342720"/>
            <a:chOff x="2928960" y="2643120"/>
            <a:chExt cx="428400" cy="342720"/>
          </a:xfrm>
        </p:grpSpPr>
        <p:sp>
          <p:nvSpPr>
            <p:cNvPr id="288" name="Freeform 26"/>
            <p:cNvSpPr/>
            <p:nvPr/>
          </p:nvSpPr>
          <p:spPr>
            <a:xfrm>
              <a:off x="2928960" y="2643120"/>
              <a:ext cx="428400" cy="342720"/>
            </a:xfrm>
            <a:custGeom>
              <a:avLst/>
              <a:gdLst>
                <a:gd name="textAreaLeft" fmla="*/ 0 w 428400"/>
                <a:gd name="textAreaRight" fmla="*/ 428760 w 42840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" name="Group 27"/>
          <p:cNvGrpSpPr/>
          <p:nvPr/>
        </p:nvGrpSpPr>
        <p:grpSpPr>
          <a:xfrm>
            <a:off x="7015320" y="2643120"/>
            <a:ext cx="256680" cy="342720"/>
            <a:chOff x="7015320" y="2643120"/>
            <a:chExt cx="256680" cy="342720"/>
          </a:xfrm>
        </p:grpSpPr>
        <p:sp>
          <p:nvSpPr>
            <p:cNvPr id="290" name="Freeform 28"/>
            <p:cNvSpPr/>
            <p:nvPr/>
          </p:nvSpPr>
          <p:spPr>
            <a:xfrm>
              <a:off x="7015320" y="2643120"/>
              <a:ext cx="256680" cy="3427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342900" h="4572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" name="Group 29"/>
          <p:cNvGrpSpPr/>
          <p:nvPr/>
        </p:nvGrpSpPr>
        <p:grpSpPr>
          <a:xfrm>
            <a:off x="10929960" y="2643120"/>
            <a:ext cx="428400" cy="342720"/>
            <a:chOff x="10929960" y="2643120"/>
            <a:chExt cx="428400" cy="342720"/>
          </a:xfrm>
        </p:grpSpPr>
        <p:sp>
          <p:nvSpPr>
            <p:cNvPr id="292" name="Freeform 30"/>
            <p:cNvSpPr/>
            <p:nvPr/>
          </p:nvSpPr>
          <p:spPr>
            <a:xfrm>
              <a:off x="10929960" y="2643120"/>
              <a:ext cx="428400" cy="342720"/>
            </a:xfrm>
            <a:custGeom>
              <a:avLst/>
              <a:gdLst>
                <a:gd name="textAreaLeft" fmla="*/ 0 w 428400"/>
                <a:gd name="textAreaRight" fmla="*/ 428760 w 42840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" name="Group 31"/>
          <p:cNvGrpSpPr/>
          <p:nvPr/>
        </p:nvGrpSpPr>
        <p:grpSpPr>
          <a:xfrm>
            <a:off x="14973480" y="2643120"/>
            <a:ext cx="342720" cy="342720"/>
            <a:chOff x="14973480" y="2643120"/>
            <a:chExt cx="342720" cy="342720"/>
          </a:xfrm>
        </p:grpSpPr>
        <p:sp>
          <p:nvSpPr>
            <p:cNvPr id="294" name="Freeform 32"/>
            <p:cNvSpPr/>
            <p:nvPr/>
          </p:nvSpPr>
          <p:spPr>
            <a:xfrm>
              <a:off x="14973480" y="2643120"/>
              <a:ext cx="342720" cy="3427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2"/>
          <p:cNvGrpSpPr/>
          <p:nvPr/>
        </p:nvGrpSpPr>
        <p:grpSpPr>
          <a:xfrm>
            <a:off x="12573000" y="-2857680"/>
            <a:ext cx="7143480" cy="7143480"/>
            <a:chOff x="12573000" y="-2857680"/>
            <a:chExt cx="7143480" cy="7143480"/>
          </a:xfrm>
        </p:grpSpPr>
        <p:sp>
          <p:nvSpPr>
            <p:cNvPr id="296" name="Freeform 3"/>
            <p:cNvSpPr/>
            <p:nvPr/>
          </p:nvSpPr>
          <p:spPr>
            <a:xfrm>
              <a:off x="12573000" y="-2857680"/>
              <a:ext cx="7143480" cy="7143480"/>
            </a:xfrm>
            <a:custGeom>
              <a:avLst/>
              <a:gdLst>
                <a:gd name="textAreaLeft" fmla="*/ 0 w 7143480"/>
                <a:gd name="textAreaRight" fmla="*/ 7143840 w 7143480"/>
                <a:gd name="textAreaTop" fmla="*/ 0 h 7143480"/>
                <a:gd name="textAreaBottom" fmla="*/ 7143840 h 7143480"/>
              </a:gdLst>
              <a:ahLst/>
              <a:rect l="textAreaLeft" t="textAreaTop" r="textAreaRight" b="textAreaBottom"/>
              <a:pathLst>
                <a:path w="9525000" h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7" name="TextBox 4"/>
          <p:cNvSpPr/>
          <p:nvPr/>
        </p:nvSpPr>
        <p:spPr>
          <a:xfrm>
            <a:off x="1428840" y="666720"/>
            <a:ext cx="667548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Démonstration Produit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8" name="Group 5"/>
          <p:cNvGrpSpPr/>
          <p:nvPr/>
        </p:nvGrpSpPr>
        <p:grpSpPr>
          <a:xfrm>
            <a:off x="14787720" y="921600"/>
            <a:ext cx="2356920" cy="399600"/>
            <a:chOff x="14787720" y="921600"/>
            <a:chExt cx="2356920" cy="399600"/>
          </a:xfrm>
        </p:grpSpPr>
        <p:sp>
          <p:nvSpPr>
            <p:cNvPr id="299" name="Freeform 6"/>
            <p:cNvSpPr/>
            <p:nvPr/>
          </p:nvSpPr>
          <p:spPr>
            <a:xfrm>
              <a:off x="14787720" y="921600"/>
              <a:ext cx="2356920" cy="399600"/>
            </a:xfrm>
            <a:custGeom>
              <a:avLst/>
              <a:gdLst>
                <a:gd name="textAreaLeft" fmla="*/ 0 w 2356920"/>
                <a:gd name="textAreaRight" fmla="*/ 2357280 w 235692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3143250" h="533400">
                  <a:moveTo>
                    <a:pt x="0" y="0"/>
                  </a:moveTo>
                  <a:lnTo>
                    <a:pt x="3143250" y="0"/>
                  </a:lnTo>
                  <a:lnTo>
                    <a:pt x="3143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0" name="Group 7"/>
          <p:cNvGrpSpPr/>
          <p:nvPr/>
        </p:nvGrpSpPr>
        <p:grpSpPr>
          <a:xfrm>
            <a:off x="1100160" y="792000"/>
            <a:ext cx="85320" cy="569520"/>
            <a:chOff x="1100160" y="792000"/>
            <a:chExt cx="85320" cy="569520"/>
          </a:xfrm>
        </p:grpSpPr>
        <p:sp>
          <p:nvSpPr>
            <p:cNvPr id="301" name="Freeform 8"/>
            <p:cNvSpPr/>
            <p:nvPr/>
          </p:nvSpPr>
          <p:spPr>
            <a:xfrm>
              <a:off x="1100160" y="79200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02" name="Group 9"/>
          <p:cNvGrpSpPr/>
          <p:nvPr/>
        </p:nvGrpSpPr>
        <p:grpSpPr>
          <a:xfrm>
            <a:off x="1143000" y="6131520"/>
            <a:ext cx="199800" cy="228240"/>
            <a:chOff x="1143000" y="6131520"/>
            <a:chExt cx="199800" cy="228240"/>
          </a:xfrm>
        </p:grpSpPr>
        <p:sp>
          <p:nvSpPr>
            <p:cNvPr id="303" name="Freeform 10"/>
            <p:cNvSpPr/>
            <p:nvPr/>
          </p:nvSpPr>
          <p:spPr>
            <a:xfrm>
              <a:off x="1143000" y="6131520"/>
              <a:ext cx="199800" cy="2282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4" name="Group 11"/>
          <p:cNvGrpSpPr/>
          <p:nvPr/>
        </p:nvGrpSpPr>
        <p:grpSpPr>
          <a:xfrm>
            <a:off x="1143000" y="6595560"/>
            <a:ext cx="199800" cy="228240"/>
            <a:chOff x="1143000" y="6595560"/>
            <a:chExt cx="199800" cy="228240"/>
          </a:xfrm>
        </p:grpSpPr>
        <p:sp>
          <p:nvSpPr>
            <p:cNvPr id="305" name="Freeform 12"/>
            <p:cNvSpPr/>
            <p:nvPr/>
          </p:nvSpPr>
          <p:spPr>
            <a:xfrm>
              <a:off x="1143000" y="6595560"/>
              <a:ext cx="199800" cy="2282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" name="Group 13"/>
          <p:cNvGrpSpPr/>
          <p:nvPr/>
        </p:nvGrpSpPr>
        <p:grpSpPr>
          <a:xfrm>
            <a:off x="1143000" y="7059960"/>
            <a:ext cx="199800" cy="228240"/>
            <a:chOff x="1143000" y="7059960"/>
            <a:chExt cx="199800" cy="228240"/>
          </a:xfrm>
        </p:grpSpPr>
        <p:sp>
          <p:nvSpPr>
            <p:cNvPr id="307" name="Freeform 14"/>
            <p:cNvSpPr/>
            <p:nvPr/>
          </p:nvSpPr>
          <p:spPr>
            <a:xfrm>
              <a:off x="1143000" y="7059960"/>
              <a:ext cx="199800" cy="228240"/>
            </a:xfrm>
            <a:custGeom>
              <a:avLst/>
              <a:gdLst>
                <a:gd name="textAreaLeft" fmla="*/ 0 w 199800"/>
                <a:gd name="textAreaRight" fmla="*/ 200160 w 199800"/>
                <a:gd name="textAreaTop" fmla="*/ 0 h 228240"/>
                <a:gd name="textAreaBottom" fmla="*/ 228600 h 228240"/>
              </a:gdLst>
              <a:ahLst/>
              <a:rect l="textAreaLeft" t="textAreaTop" r="textAreaRight" b="textAreaBottom"/>
              <a:pathLst>
                <a:path w="266700" h="3048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8" name="Freeform 15"/>
          <p:cNvSpPr/>
          <p:nvPr/>
        </p:nvSpPr>
        <p:spPr>
          <a:xfrm>
            <a:off x="9543600" y="3050640"/>
            <a:ext cx="7601040" cy="4273560"/>
          </a:xfrm>
          <a:custGeom>
            <a:avLst/>
            <a:gdLst>
              <a:gd name="textAreaLeft" fmla="*/ 0 w 7601040"/>
              <a:gd name="textAreaRight" fmla="*/ 7601400 w 7601040"/>
              <a:gd name="textAreaTop" fmla="*/ 0 h 4273560"/>
              <a:gd name="textAreaBottom" fmla="*/ 4273920 h 4273560"/>
            </a:gdLst>
            <a:ahLst/>
            <a:rect l="textAreaLeft" t="textAreaTop" r="textAreaRight" b="textAreaBottom"/>
            <a:pathLst>
              <a:path w="7601526" h="4273772">
                <a:moveTo>
                  <a:pt x="0" y="0"/>
                </a:moveTo>
                <a:lnTo>
                  <a:pt x="7601526" y="0"/>
                </a:lnTo>
                <a:lnTo>
                  <a:pt x="7601526" y="4273772"/>
                </a:lnTo>
                <a:lnTo>
                  <a:pt x="0" y="42737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cap="sq"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16"/>
          <p:cNvSpPr/>
          <p:nvPr/>
        </p:nvSpPr>
        <p:spPr>
          <a:xfrm>
            <a:off x="1143000" y="4043880"/>
            <a:ext cx="810072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26"/>
              </a:lnSpc>
            </a:pPr>
            <a:r>
              <a:rPr b="1" lang="en-US" sz="2110" spc="-1" strike="noStrike">
                <a:solidFill>
                  <a:srgbClr val="ff6b00"/>
                </a:solidFill>
                <a:latin typeface="Poppins Bold"/>
                <a:ea typeface="Poppins Bold"/>
              </a:rPr>
              <a:t>Une interface intuitive conçue pour l'efficacité</a:t>
            </a:r>
            <a:endParaRPr b="0" lang="fr-FR" sz="21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17"/>
          <p:cNvSpPr/>
          <p:nvPr/>
        </p:nvSpPr>
        <p:spPr>
          <a:xfrm>
            <a:off x="1143000" y="4567680"/>
            <a:ext cx="77148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55"/>
              </a:lnSpc>
            </a:pPr>
            <a:r>
              <a:rPr b="0" lang="en-US" sz="1800" spc="-1" strike="noStrike">
                <a:solidFill>
                  <a:srgbClr val="475569"/>
                </a:solidFill>
                <a:latin typeface="Inter"/>
                <a:ea typeface="Inter"/>
              </a:rPr>
              <a:t>La plateforme LocaTech AI propose un tableau de bord épuré, permettant de piloter l'ensemble de l'activité commerciale en quelques clics.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18"/>
          <p:cNvSpPr/>
          <p:nvPr/>
        </p:nvSpPr>
        <p:spPr>
          <a:xfrm>
            <a:off x="1785960" y="5978880"/>
            <a:ext cx="7071840" cy="38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6"/>
              </a:lnSpc>
            </a:pPr>
            <a:r>
              <a:rPr b="0" lang="en-US" sz="1679" spc="-1" strike="noStrike">
                <a:solidFill>
                  <a:srgbClr val="334155"/>
                </a:solidFill>
                <a:latin typeface="Inter"/>
                <a:ea typeface="Inter"/>
              </a:rPr>
              <a:t>Calendrier dynamique des locations</a:t>
            </a:r>
            <a:endParaRPr b="0" lang="fr-F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9"/>
          <p:cNvSpPr/>
          <p:nvPr/>
        </p:nvSpPr>
        <p:spPr>
          <a:xfrm>
            <a:off x="1785960" y="6443280"/>
            <a:ext cx="7071840" cy="38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6"/>
              </a:lnSpc>
            </a:pPr>
            <a:r>
              <a:rPr b="0" lang="en-US" sz="1679" spc="-1" strike="noStrike">
                <a:solidFill>
                  <a:srgbClr val="334155"/>
                </a:solidFill>
                <a:latin typeface="Inter"/>
                <a:ea typeface="Inter"/>
              </a:rPr>
              <a:t>État des stocks disponible en temps réel</a:t>
            </a:r>
            <a:endParaRPr b="0" lang="fr-FR" sz="16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20"/>
          <p:cNvSpPr/>
          <p:nvPr/>
        </p:nvSpPr>
        <p:spPr>
          <a:xfrm>
            <a:off x="1785960" y="6907680"/>
            <a:ext cx="7071840" cy="38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6"/>
              </a:lnSpc>
            </a:pPr>
            <a:r>
              <a:rPr b="0" lang="en-US" sz="1679" spc="-1" strike="noStrike">
                <a:solidFill>
                  <a:srgbClr val="334155"/>
                </a:solidFill>
                <a:latin typeface="Inter"/>
                <a:ea typeface="Inter"/>
              </a:rPr>
              <a:t>Statistiques de rentabilité par matériel</a:t>
            </a:r>
            <a:endParaRPr b="0" lang="fr-FR" sz="167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roup 2"/>
          <p:cNvGrpSpPr/>
          <p:nvPr/>
        </p:nvGrpSpPr>
        <p:grpSpPr>
          <a:xfrm>
            <a:off x="1143000" y="4280760"/>
            <a:ext cx="5104800" cy="2968200"/>
            <a:chOff x="1143000" y="4280760"/>
            <a:chExt cx="5104800" cy="2968200"/>
          </a:xfrm>
        </p:grpSpPr>
        <p:sp>
          <p:nvSpPr>
            <p:cNvPr id="315" name="Freeform 3"/>
            <p:cNvSpPr/>
            <p:nvPr/>
          </p:nvSpPr>
          <p:spPr>
            <a:xfrm>
              <a:off x="1143000" y="4280760"/>
              <a:ext cx="5104800" cy="2968200"/>
            </a:xfrm>
            <a:custGeom>
              <a:avLst/>
              <a:gdLst>
                <a:gd name="textAreaLeft" fmla="*/ 0 w 5104800"/>
                <a:gd name="textAreaRight" fmla="*/ 5105160 w 5104800"/>
                <a:gd name="textAreaTop" fmla="*/ 0 h 2968200"/>
                <a:gd name="textAreaBottom" fmla="*/ 2968560 h 2968200"/>
              </a:gdLst>
              <a:ahLst/>
              <a:rect l="textAreaLeft" t="textAreaTop" r="textAreaRight" b="textAreaBottom"/>
              <a:pathLst>
                <a:path w="6807073" h="3958209">
                  <a:moveTo>
                    <a:pt x="0" y="0"/>
                  </a:moveTo>
                  <a:lnTo>
                    <a:pt x="6807073" y="0"/>
                  </a:lnTo>
                  <a:lnTo>
                    <a:pt x="6807073" y="3958209"/>
                  </a:lnTo>
                  <a:lnTo>
                    <a:pt x="0" y="395820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" name="Group 4"/>
          <p:cNvGrpSpPr/>
          <p:nvPr/>
        </p:nvGrpSpPr>
        <p:grpSpPr>
          <a:xfrm>
            <a:off x="6591240" y="4280760"/>
            <a:ext cx="5104800" cy="2968200"/>
            <a:chOff x="6591240" y="4280760"/>
            <a:chExt cx="5104800" cy="2968200"/>
          </a:xfrm>
        </p:grpSpPr>
        <p:sp>
          <p:nvSpPr>
            <p:cNvPr id="317" name="Freeform 5"/>
            <p:cNvSpPr/>
            <p:nvPr/>
          </p:nvSpPr>
          <p:spPr>
            <a:xfrm>
              <a:off x="6591240" y="4280760"/>
              <a:ext cx="5104800" cy="2968200"/>
            </a:xfrm>
            <a:custGeom>
              <a:avLst/>
              <a:gdLst>
                <a:gd name="textAreaLeft" fmla="*/ 0 w 5104800"/>
                <a:gd name="textAreaRight" fmla="*/ 5105160 w 5104800"/>
                <a:gd name="textAreaTop" fmla="*/ 0 h 2968200"/>
                <a:gd name="textAreaBottom" fmla="*/ 2968560 h 2968200"/>
              </a:gdLst>
              <a:ahLst/>
              <a:rect l="textAreaLeft" t="textAreaTop" r="textAreaRight" b="textAreaBottom"/>
              <a:pathLst>
                <a:path w="6807073" h="3958209">
                  <a:moveTo>
                    <a:pt x="0" y="0"/>
                  </a:moveTo>
                  <a:lnTo>
                    <a:pt x="6807073" y="0"/>
                  </a:lnTo>
                  <a:lnTo>
                    <a:pt x="6807073" y="3958209"/>
                  </a:lnTo>
                  <a:lnTo>
                    <a:pt x="0" y="395820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8" name="Group 6"/>
          <p:cNvGrpSpPr/>
          <p:nvPr/>
        </p:nvGrpSpPr>
        <p:grpSpPr>
          <a:xfrm>
            <a:off x="12039480" y="4280760"/>
            <a:ext cx="5104800" cy="2968200"/>
            <a:chOff x="12039480" y="4280760"/>
            <a:chExt cx="5104800" cy="2968200"/>
          </a:xfrm>
        </p:grpSpPr>
        <p:sp>
          <p:nvSpPr>
            <p:cNvPr id="319" name="Freeform 7"/>
            <p:cNvSpPr/>
            <p:nvPr/>
          </p:nvSpPr>
          <p:spPr>
            <a:xfrm>
              <a:off x="12039480" y="4280760"/>
              <a:ext cx="5104800" cy="2968200"/>
            </a:xfrm>
            <a:custGeom>
              <a:avLst/>
              <a:gdLst>
                <a:gd name="textAreaLeft" fmla="*/ 0 w 5104800"/>
                <a:gd name="textAreaRight" fmla="*/ 5105160 w 5104800"/>
                <a:gd name="textAreaTop" fmla="*/ 0 h 2968200"/>
                <a:gd name="textAreaBottom" fmla="*/ 2968560 h 2968200"/>
              </a:gdLst>
              <a:ahLst/>
              <a:rect l="textAreaLeft" t="textAreaTop" r="textAreaRight" b="textAreaBottom"/>
              <a:pathLst>
                <a:path w="6807073" h="3958209">
                  <a:moveTo>
                    <a:pt x="0" y="0"/>
                  </a:moveTo>
                  <a:lnTo>
                    <a:pt x="6807073" y="0"/>
                  </a:lnTo>
                  <a:lnTo>
                    <a:pt x="6807073" y="3958209"/>
                  </a:lnTo>
                  <a:lnTo>
                    <a:pt x="0" y="395820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0" name="TextBox 8"/>
          <p:cNvSpPr/>
          <p:nvPr/>
        </p:nvSpPr>
        <p:spPr>
          <a:xfrm>
            <a:off x="1428840" y="666720"/>
            <a:ext cx="597024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Fonctionnalités Clés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1" name="Group 9"/>
          <p:cNvGrpSpPr/>
          <p:nvPr/>
        </p:nvGrpSpPr>
        <p:grpSpPr>
          <a:xfrm>
            <a:off x="13987440" y="921600"/>
            <a:ext cx="3157200" cy="399600"/>
            <a:chOff x="13987440" y="921600"/>
            <a:chExt cx="3157200" cy="399600"/>
          </a:xfrm>
        </p:grpSpPr>
        <p:sp>
          <p:nvSpPr>
            <p:cNvPr id="322" name="Freeform 10"/>
            <p:cNvSpPr/>
            <p:nvPr/>
          </p:nvSpPr>
          <p:spPr>
            <a:xfrm>
              <a:off x="13987440" y="921600"/>
              <a:ext cx="3157200" cy="399600"/>
            </a:xfrm>
            <a:custGeom>
              <a:avLst/>
              <a:gdLst>
                <a:gd name="textAreaLeft" fmla="*/ 0 w 3157200"/>
                <a:gd name="textAreaRight" fmla="*/ 3157560 w 315720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4210050" h="533400">
                  <a:moveTo>
                    <a:pt x="0" y="0"/>
                  </a:moveTo>
                  <a:lnTo>
                    <a:pt x="4210050" y="0"/>
                  </a:lnTo>
                  <a:lnTo>
                    <a:pt x="42100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3" name="Group 11"/>
          <p:cNvGrpSpPr/>
          <p:nvPr/>
        </p:nvGrpSpPr>
        <p:grpSpPr>
          <a:xfrm>
            <a:off x="1028880" y="751680"/>
            <a:ext cx="85320" cy="569520"/>
            <a:chOff x="1028880" y="751680"/>
            <a:chExt cx="85320" cy="569520"/>
          </a:xfrm>
        </p:grpSpPr>
        <p:sp>
          <p:nvSpPr>
            <p:cNvPr id="324" name="Freeform 12"/>
            <p:cNvSpPr/>
            <p:nvPr/>
          </p:nvSpPr>
          <p:spPr>
            <a:xfrm>
              <a:off x="1028880" y="75168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25" name="TextBox 13"/>
          <p:cNvSpPr/>
          <p:nvPr/>
        </p:nvSpPr>
        <p:spPr>
          <a:xfrm>
            <a:off x="1585800" y="5537880"/>
            <a:ext cx="44301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b="1" lang="en-US" sz="2250" spc="-1" strike="noStrike">
                <a:solidFill>
                  <a:srgbClr val="0f172a"/>
                </a:solidFill>
                <a:latin typeface="Poppins Bold"/>
                <a:ea typeface="Poppins Bold"/>
              </a:rPr>
              <a:t>Gestion des Stocks</a:t>
            </a:r>
            <a:endParaRPr b="0" lang="fr-FR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14"/>
          <p:cNvSpPr/>
          <p:nvPr/>
        </p:nvSpPr>
        <p:spPr>
          <a:xfrm>
            <a:off x="1585800" y="6052320"/>
            <a:ext cx="4219200" cy="7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22"/>
              </a:lnSpc>
            </a:pPr>
            <a:r>
              <a:rPr b="0" lang="en-US" sz="1580" spc="-1" strike="noStrike">
                <a:solidFill>
                  <a:srgbClr val="475569"/>
                </a:solidFill>
                <a:latin typeface="Inter"/>
                <a:ea typeface="Inter"/>
              </a:rPr>
              <a:t>Suivez l'emplacement, la disponibilité et l'usure de vos équipements en temps réel.</a:t>
            </a:r>
            <a:endParaRPr b="0" lang="fr-FR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5"/>
          <p:cNvSpPr/>
          <p:nvPr/>
        </p:nvSpPr>
        <p:spPr>
          <a:xfrm>
            <a:off x="7034040" y="5537880"/>
            <a:ext cx="44301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b="1" lang="en-US" sz="2250" spc="-1" strike="noStrike">
                <a:solidFill>
                  <a:srgbClr val="0f172a"/>
                </a:solidFill>
                <a:latin typeface="Poppins Bold"/>
                <a:ea typeface="Poppins Bold"/>
              </a:rPr>
              <a:t>Pénalités de retard</a:t>
            </a:r>
            <a:endParaRPr b="0" lang="fr-FR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16"/>
          <p:cNvSpPr/>
          <p:nvPr/>
        </p:nvSpPr>
        <p:spPr>
          <a:xfrm>
            <a:off x="7034040" y="6052320"/>
            <a:ext cx="4219200" cy="7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22"/>
              </a:lnSpc>
            </a:pPr>
            <a:r>
              <a:rPr b="0" lang="en-US" sz="1580" spc="-1" strike="noStrike">
                <a:solidFill>
                  <a:srgbClr val="475569"/>
                </a:solidFill>
                <a:latin typeface="Inter"/>
                <a:ea typeface="Inter"/>
              </a:rPr>
              <a:t>Calcul automatique des surcoûts selon le barème configuré à la signature.</a:t>
            </a:r>
            <a:endParaRPr b="0" lang="fr-FR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17"/>
          <p:cNvSpPr/>
          <p:nvPr/>
        </p:nvSpPr>
        <p:spPr>
          <a:xfrm>
            <a:off x="12482280" y="5537880"/>
            <a:ext cx="44301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r>
              <a:rPr b="1" lang="en-US" sz="2250" spc="-1" strike="noStrike">
                <a:solidFill>
                  <a:srgbClr val="0f172a"/>
                </a:solidFill>
                <a:latin typeface="Poppins Bold"/>
                <a:ea typeface="Poppins Bold"/>
              </a:rPr>
              <a:t>Factures automatiques</a:t>
            </a:r>
            <a:endParaRPr b="0" lang="fr-FR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18"/>
          <p:cNvSpPr/>
          <p:nvPr/>
        </p:nvSpPr>
        <p:spPr>
          <a:xfrm>
            <a:off x="12482280" y="6052320"/>
            <a:ext cx="4219200" cy="7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22"/>
              </a:lnSpc>
            </a:pPr>
            <a:r>
              <a:rPr b="0" lang="en-US" sz="1580" spc="-1" strike="noStrike">
                <a:solidFill>
                  <a:srgbClr val="475569"/>
                </a:solidFill>
                <a:latin typeface="Inter"/>
                <a:ea typeface="Inter"/>
              </a:rPr>
              <a:t>Génération de devis et factures PDF pro-forma conformes d'un seul clic.</a:t>
            </a:r>
            <a:endParaRPr b="0" lang="fr-FR" sz="158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1" name="Group 19"/>
          <p:cNvGrpSpPr/>
          <p:nvPr/>
        </p:nvGrpSpPr>
        <p:grpSpPr>
          <a:xfrm>
            <a:off x="1585800" y="4766400"/>
            <a:ext cx="514080" cy="456840"/>
            <a:chOff x="1585800" y="4766400"/>
            <a:chExt cx="514080" cy="456840"/>
          </a:xfrm>
        </p:grpSpPr>
        <p:sp>
          <p:nvSpPr>
            <p:cNvPr id="332" name="Freeform 20"/>
            <p:cNvSpPr/>
            <p:nvPr/>
          </p:nvSpPr>
          <p:spPr>
            <a:xfrm>
              <a:off x="1585800" y="4766400"/>
              <a:ext cx="514080" cy="456840"/>
            </a:xfrm>
            <a:custGeom>
              <a:avLst/>
              <a:gdLst>
                <a:gd name="textAreaLeft" fmla="*/ 0 w 514080"/>
                <a:gd name="textAreaRight" fmla="*/ 514440 w 514080"/>
                <a:gd name="textAreaTop" fmla="*/ 0 h 456840"/>
                <a:gd name="textAreaBottom" fmla="*/ 457200 h 456840"/>
              </a:gdLst>
              <a:ahLst/>
              <a:rect l="textAreaLeft" t="textAreaTop" r="textAreaRight" b="textAreaBottom"/>
              <a:pathLst>
                <a:path w="685800" h="609600">
                  <a:moveTo>
                    <a:pt x="0" y="0"/>
                  </a:moveTo>
                  <a:lnTo>
                    <a:pt x="685800" y="0"/>
                  </a:lnTo>
                  <a:lnTo>
                    <a:pt x="685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3" name="Group 21"/>
          <p:cNvGrpSpPr/>
          <p:nvPr/>
        </p:nvGrpSpPr>
        <p:grpSpPr>
          <a:xfrm>
            <a:off x="7034040" y="4766400"/>
            <a:ext cx="342720" cy="456840"/>
            <a:chOff x="7034040" y="4766400"/>
            <a:chExt cx="342720" cy="456840"/>
          </a:xfrm>
        </p:grpSpPr>
        <p:sp>
          <p:nvSpPr>
            <p:cNvPr id="334" name="Freeform 22"/>
            <p:cNvSpPr/>
            <p:nvPr/>
          </p:nvSpPr>
          <p:spPr>
            <a:xfrm>
              <a:off x="7034040" y="4766400"/>
              <a:ext cx="342720" cy="45684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456840"/>
                <a:gd name="textAreaBottom" fmla="*/ 457200 h 456840"/>
              </a:gdLst>
              <a:ahLst/>
              <a:rect l="textAreaLeft" t="textAreaTop" r="textAreaRight" b="textAreaBottom"/>
              <a:pathLst>
                <a:path w="457200" h="6096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5" name="Group 23"/>
          <p:cNvGrpSpPr/>
          <p:nvPr/>
        </p:nvGrpSpPr>
        <p:grpSpPr>
          <a:xfrm>
            <a:off x="12482280" y="4766400"/>
            <a:ext cx="456840" cy="456840"/>
            <a:chOff x="12482280" y="4766400"/>
            <a:chExt cx="456840" cy="456840"/>
          </a:xfrm>
        </p:grpSpPr>
        <p:sp>
          <p:nvSpPr>
            <p:cNvPr id="336" name="Freeform 24"/>
            <p:cNvSpPr/>
            <p:nvPr/>
          </p:nvSpPr>
          <p:spPr>
            <a:xfrm>
              <a:off x="12482280" y="476640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rect l="textAreaLeft" t="textAreaTop" r="textAreaRight" b="textAreaBottom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roup 2"/>
          <p:cNvGrpSpPr/>
          <p:nvPr/>
        </p:nvGrpSpPr>
        <p:grpSpPr>
          <a:xfrm>
            <a:off x="-1428840" y="6715080"/>
            <a:ext cx="5714640" cy="5714640"/>
            <a:chOff x="-1428840" y="6715080"/>
            <a:chExt cx="5714640" cy="5714640"/>
          </a:xfrm>
        </p:grpSpPr>
        <p:sp>
          <p:nvSpPr>
            <p:cNvPr id="338" name="Freeform 3"/>
            <p:cNvSpPr/>
            <p:nvPr/>
          </p:nvSpPr>
          <p:spPr>
            <a:xfrm>
              <a:off x="-1428840" y="6715080"/>
              <a:ext cx="5714640" cy="5714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5714640"/>
                <a:gd name="textAreaBottom" fmla="*/ 5715000 h 5714640"/>
              </a:gdLst>
              <a:ahLst/>
              <a:rect l="textAreaLeft" t="textAreaTop" r="textAreaRight" b="textAreaBottom"/>
              <a:pathLst>
                <a:path w="7620000" h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9" name="Group 4"/>
          <p:cNvGrpSpPr/>
          <p:nvPr/>
        </p:nvGrpSpPr>
        <p:grpSpPr>
          <a:xfrm>
            <a:off x="1143000" y="3135960"/>
            <a:ext cx="16001640" cy="5257440"/>
            <a:chOff x="1143000" y="3135960"/>
            <a:chExt cx="16001640" cy="5257440"/>
          </a:xfrm>
        </p:grpSpPr>
        <p:sp>
          <p:nvSpPr>
            <p:cNvPr id="340" name="Freeform 5"/>
            <p:cNvSpPr/>
            <p:nvPr/>
          </p:nvSpPr>
          <p:spPr>
            <a:xfrm>
              <a:off x="1143000" y="3135960"/>
              <a:ext cx="16001640" cy="5257440"/>
            </a:xfrm>
            <a:custGeom>
              <a:avLst/>
              <a:gdLst>
                <a:gd name="textAreaLeft" fmla="*/ 0 w 16001640"/>
                <a:gd name="textAreaRight" fmla="*/ 16002000 w 16001640"/>
                <a:gd name="textAreaTop" fmla="*/ 0 h 5257440"/>
                <a:gd name="textAreaBottom" fmla="*/ 5257800 h 5257440"/>
              </a:gdLst>
              <a:ahLst/>
              <a:rect l="textAreaLeft" t="textAreaTop" r="textAreaRight" b="textAreaBottom"/>
              <a:pathLst>
                <a:path w="21336000" h="7010400">
                  <a:moveTo>
                    <a:pt x="0" y="0"/>
                  </a:moveTo>
                  <a:lnTo>
                    <a:pt x="21336000" y="0"/>
                  </a:lnTo>
                  <a:lnTo>
                    <a:pt x="21336000" y="7010400"/>
                  </a:lnTo>
                  <a:lnTo>
                    <a:pt x="0" y="7010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1" name="TextBox 6"/>
          <p:cNvSpPr/>
          <p:nvPr/>
        </p:nvSpPr>
        <p:spPr>
          <a:xfrm>
            <a:off x="1428840" y="666720"/>
            <a:ext cx="691560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Architecture Technique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2" name="Group 7"/>
          <p:cNvGrpSpPr/>
          <p:nvPr/>
        </p:nvGrpSpPr>
        <p:grpSpPr>
          <a:xfrm>
            <a:off x="14015880" y="921600"/>
            <a:ext cx="3128760" cy="399600"/>
            <a:chOff x="14015880" y="921600"/>
            <a:chExt cx="3128760" cy="399600"/>
          </a:xfrm>
        </p:grpSpPr>
        <p:sp>
          <p:nvSpPr>
            <p:cNvPr id="343" name="Freeform 8"/>
            <p:cNvSpPr/>
            <p:nvPr/>
          </p:nvSpPr>
          <p:spPr>
            <a:xfrm>
              <a:off x="14015880" y="921600"/>
              <a:ext cx="3128760" cy="399600"/>
            </a:xfrm>
            <a:custGeom>
              <a:avLst/>
              <a:gdLst>
                <a:gd name="textAreaLeft" fmla="*/ 0 w 3128760"/>
                <a:gd name="textAreaRight" fmla="*/ 3129120 w 312876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4171950" h="533400">
                  <a:moveTo>
                    <a:pt x="0" y="0"/>
                  </a:moveTo>
                  <a:lnTo>
                    <a:pt x="4171950" y="0"/>
                  </a:lnTo>
                  <a:lnTo>
                    <a:pt x="41719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" name="Group 9"/>
          <p:cNvGrpSpPr/>
          <p:nvPr/>
        </p:nvGrpSpPr>
        <p:grpSpPr>
          <a:xfrm>
            <a:off x="1028880" y="751680"/>
            <a:ext cx="85320" cy="569520"/>
            <a:chOff x="1028880" y="751680"/>
            <a:chExt cx="85320" cy="569520"/>
          </a:xfrm>
        </p:grpSpPr>
        <p:sp>
          <p:nvSpPr>
            <p:cNvPr id="345" name="Freeform 10"/>
            <p:cNvSpPr/>
            <p:nvPr/>
          </p:nvSpPr>
          <p:spPr>
            <a:xfrm>
              <a:off x="1028880" y="75168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aphicFrame>
        <p:nvGraphicFramePr>
          <p:cNvPr id="346" name="Table 11"/>
          <p:cNvGraphicFramePr/>
          <p:nvPr/>
        </p:nvGraphicFramePr>
        <p:xfrm>
          <a:off x="1143000" y="3135960"/>
          <a:ext cx="15849360" cy="5238360"/>
        </p:xfrm>
        <a:graphic>
          <a:graphicData uri="http://schemas.openxmlformats.org/drawingml/2006/table">
            <a:tbl>
              <a:tblPr/>
              <a:tblGrid>
                <a:gridCol w="3969360"/>
                <a:gridCol w="6333840"/>
                <a:gridCol w="5545800"/>
              </a:tblGrid>
              <a:tr h="1047600"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</a:pPr>
                      <a:r>
                        <a:rPr b="0" lang="en-US" sz="1800" spc="-1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Couche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</a:pPr>
                      <a:r>
                        <a:rPr b="0" lang="en-US" sz="1800" spc="-1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Technologies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160"/>
                        </a:lnSpc>
                      </a:pPr>
                      <a:r>
                        <a:rPr b="0" lang="en-US" sz="1800" spc="-1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</a:rPr>
                        <a:t>Avantages clés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1047600"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1" lang="en-US" sz="1679" spc="-1" strike="noStrike">
                          <a:solidFill>
                            <a:srgbClr val="334155"/>
                          </a:solidFill>
                          <a:latin typeface="Inter Bold"/>
                          <a:ea typeface="Inter Bold"/>
                        </a:rPr>
                        <a:t>Frontend / Backend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1" lang="en-US" sz="1679" spc="-1" strike="noStrike">
                          <a:solidFill>
                            <a:srgbClr val="ff6b00"/>
                          </a:solidFill>
                          <a:latin typeface="Inter Medium"/>
                          <a:ea typeface="Inter Medium"/>
                        </a:rPr>
                        <a:t>Angular</a:t>
                      </a:r>
                      <a:r>
                        <a:rPr b="0" lang="en-US" sz="1679" spc="-1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</a:rPr>
                        <a:t> &amp; </a:t>
                      </a:r>
                      <a:r>
                        <a:rPr b="1" lang="en-US" sz="1679" spc="-1" strike="noStrike">
                          <a:solidFill>
                            <a:srgbClr val="ff6b00"/>
                          </a:solidFill>
                          <a:latin typeface="Inter Medium"/>
                          <a:ea typeface="Inter Medium"/>
                        </a:rPr>
                        <a:t>Django REST Framework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0" lang="en-US" sz="1679" spc="-1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</a:rPr>
                        <a:t>Interface dynamique, sécurité renforcée et API robuste.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1047600"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1" lang="en-US" sz="1679" spc="-1" strike="noStrike">
                          <a:solidFill>
                            <a:srgbClr val="334155"/>
                          </a:solidFill>
                          <a:latin typeface="Inter Bold"/>
                          <a:ea typeface="Inter Bold"/>
                        </a:rPr>
                        <a:t>Base de données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1" lang="en-US" sz="1679" spc="-1" strike="noStrike">
                          <a:solidFill>
                            <a:srgbClr val="005088"/>
                          </a:solidFill>
                          <a:latin typeface="Inter Medium"/>
                          <a:ea typeface="Inter Medium"/>
                        </a:rPr>
                        <a:t>PostgreSQL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0" lang="en-US" sz="1679" spc="-1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</a:rPr>
                        <a:t>Rigueur relationnelle, résilience et requêtes complexes d'IA.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1047600"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1" lang="en-US" sz="1679" spc="-1" strike="noStrike">
                          <a:solidFill>
                            <a:srgbClr val="334155"/>
                          </a:solidFill>
                          <a:latin typeface="Inter Bold"/>
                          <a:ea typeface="Inter Bold"/>
                        </a:rPr>
                        <a:t>CI/CD &amp; Infra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1" lang="en-US" sz="1679" spc="-1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</a:rPr>
                        <a:t>Docker, Linux, GitHub Actions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0" lang="en-US" sz="1679" spc="-1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</a:rPr>
                        <a:t>Déploiement continu automatisé et légèreté des conteneurs.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1047600"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1" lang="en-US" sz="1679" spc="-1" strike="noStrike">
                          <a:solidFill>
                            <a:srgbClr val="334155"/>
                          </a:solidFill>
                          <a:latin typeface="Inter Bold"/>
                          <a:ea typeface="Inter Bold"/>
                        </a:rPr>
                        <a:t>Cloud &amp; Scalabilité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1" lang="en-US" sz="1679" spc="-1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</a:rPr>
                        <a:t>Kubernetes, ArgoCD (GitOps)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ts val="2024"/>
                        </a:lnSpc>
                      </a:pPr>
                      <a:r>
                        <a:rPr b="0" lang="en-US" sz="1679" spc="-1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</a:rPr>
                        <a:t>Haute disponibilité et scalabilité automatique selon la charge.</a:t>
                      </a:r>
                      <a:endParaRPr b="0" lang="fr-FR" sz="167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grpSp>
        <p:nvGrpSpPr>
          <p:cNvPr id="347" name="Group 12"/>
          <p:cNvGrpSpPr/>
          <p:nvPr/>
        </p:nvGrpSpPr>
        <p:grpSpPr>
          <a:xfrm>
            <a:off x="1171440" y="3964680"/>
            <a:ext cx="3971520" cy="14040"/>
            <a:chOff x="1171440" y="3964680"/>
            <a:chExt cx="3971520" cy="14040"/>
          </a:xfrm>
        </p:grpSpPr>
        <p:sp>
          <p:nvSpPr>
            <p:cNvPr id="348" name="Freeform 13"/>
            <p:cNvSpPr/>
            <p:nvPr/>
          </p:nvSpPr>
          <p:spPr>
            <a:xfrm>
              <a:off x="1171440" y="3964680"/>
              <a:ext cx="3971520" cy="14040"/>
            </a:xfrm>
            <a:custGeom>
              <a:avLst/>
              <a:gdLst>
                <a:gd name="textAreaLeft" fmla="*/ 0 w 3971520"/>
                <a:gd name="textAreaRight" fmla="*/ 3971880 w 39715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5295900" h="19050">
                  <a:moveTo>
                    <a:pt x="0" y="0"/>
                  </a:moveTo>
                  <a:lnTo>
                    <a:pt x="5295900" y="0"/>
                  </a:lnTo>
                  <a:lnTo>
                    <a:pt x="5295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9" name="Group 14"/>
          <p:cNvGrpSpPr/>
          <p:nvPr/>
        </p:nvGrpSpPr>
        <p:grpSpPr>
          <a:xfrm>
            <a:off x="5172120" y="3964680"/>
            <a:ext cx="6354720" cy="14040"/>
            <a:chOff x="5172120" y="3964680"/>
            <a:chExt cx="6354720" cy="14040"/>
          </a:xfrm>
        </p:grpSpPr>
        <p:sp>
          <p:nvSpPr>
            <p:cNvPr id="350" name="Freeform 15"/>
            <p:cNvSpPr/>
            <p:nvPr/>
          </p:nvSpPr>
          <p:spPr>
            <a:xfrm>
              <a:off x="5172120" y="3964680"/>
              <a:ext cx="6354720" cy="14040"/>
            </a:xfrm>
            <a:custGeom>
              <a:avLst/>
              <a:gdLst>
                <a:gd name="textAreaLeft" fmla="*/ 0 w 6354720"/>
                <a:gd name="textAreaRight" fmla="*/ 6355080 w 63547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8473440" h="19050">
                  <a:moveTo>
                    <a:pt x="0" y="0"/>
                  </a:moveTo>
                  <a:lnTo>
                    <a:pt x="8473440" y="0"/>
                  </a:lnTo>
                  <a:lnTo>
                    <a:pt x="84734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" name="Group 16"/>
          <p:cNvGrpSpPr/>
          <p:nvPr/>
        </p:nvGrpSpPr>
        <p:grpSpPr>
          <a:xfrm>
            <a:off x="11555640" y="3964680"/>
            <a:ext cx="5560200" cy="14040"/>
            <a:chOff x="11555640" y="3964680"/>
            <a:chExt cx="5560200" cy="14040"/>
          </a:xfrm>
        </p:grpSpPr>
        <p:sp>
          <p:nvSpPr>
            <p:cNvPr id="352" name="Freeform 17"/>
            <p:cNvSpPr/>
            <p:nvPr/>
          </p:nvSpPr>
          <p:spPr>
            <a:xfrm>
              <a:off x="11555640" y="3964680"/>
              <a:ext cx="5560200" cy="14040"/>
            </a:xfrm>
            <a:custGeom>
              <a:avLst/>
              <a:gdLst>
                <a:gd name="textAreaLeft" fmla="*/ 0 w 5560200"/>
                <a:gd name="textAreaRight" fmla="*/ 5560560 w 55602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7414260" h="19050">
                  <a:moveTo>
                    <a:pt x="0" y="0"/>
                  </a:moveTo>
                  <a:lnTo>
                    <a:pt x="7414260" y="0"/>
                  </a:lnTo>
                  <a:lnTo>
                    <a:pt x="741426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" name="Group 18"/>
          <p:cNvGrpSpPr/>
          <p:nvPr/>
        </p:nvGrpSpPr>
        <p:grpSpPr>
          <a:xfrm>
            <a:off x="1171440" y="5064840"/>
            <a:ext cx="3971520" cy="14040"/>
            <a:chOff x="1171440" y="5064840"/>
            <a:chExt cx="3971520" cy="14040"/>
          </a:xfrm>
        </p:grpSpPr>
        <p:sp>
          <p:nvSpPr>
            <p:cNvPr id="354" name="Freeform 19"/>
            <p:cNvSpPr/>
            <p:nvPr/>
          </p:nvSpPr>
          <p:spPr>
            <a:xfrm>
              <a:off x="1171440" y="5064840"/>
              <a:ext cx="3971520" cy="14040"/>
            </a:xfrm>
            <a:custGeom>
              <a:avLst/>
              <a:gdLst>
                <a:gd name="textAreaLeft" fmla="*/ 0 w 3971520"/>
                <a:gd name="textAreaRight" fmla="*/ 3971880 w 39715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5295900" h="19050">
                  <a:moveTo>
                    <a:pt x="0" y="0"/>
                  </a:moveTo>
                  <a:lnTo>
                    <a:pt x="5295900" y="0"/>
                  </a:lnTo>
                  <a:lnTo>
                    <a:pt x="5295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" name="Group 20"/>
          <p:cNvGrpSpPr/>
          <p:nvPr/>
        </p:nvGrpSpPr>
        <p:grpSpPr>
          <a:xfrm>
            <a:off x="5172120" y="5064840"/>
            <a:ext cx="6354720" cy="14040"/>
            <a:chOff x="5172120" y="5064840"/>
            <a:chExt cx="6354720" cy="14040"/>
          </a:xfrm>
        </p:grpSpPr>
        <p:sp>
          <p:nvSpPr>
            <p:cNvPr id="356" name="Freeform 21"/>
            <p:cNvSpPr/>
            <p:nvPr/>
          </p:nvSpPr>
          <p:spPr>
            <a:xfrm>
              <a:off x="5172120" y="5064840"/>
              <a:ext cx="6354720" cy="14040"/>
            </a:xfrm>
            <a:custGeom>
              <a:avLst/>
              <a:gdLst>
                <a:gd name="textAreaLeft" fmla="*/ 0 w 6354720"/>
                <a:gd name="textAreaRight" fmla="*/ 6355080 w 63547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8473440" h="19050">
                  <a:moveTo>
                    <a:pt x="0" y="0"/>
                  </a:moveTo>
                  <a:lnTo>
                    <a:pt x="8473440" y="0"/>
                  </a:lnTo>
                  <a:lnTo>
                    <a:pt x="84734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" name="Group 22"/>
          <p:cNvGrpSpPr/>
          <p:nvPr/>
        </p:nvGrpSpPr>
        <p:grpSpPr>
          <a:xfrm>
            <a:off x="11555640" y="5064840"/>
            <a:ext cx="5560200" cy="14040"/>
            <a:chOff x="11555640" y="5064840"/>
            <a:chExt cx="5560200" cy="14040"/>
          </a:xfrm>
        </p:grpSpPr>
        <p:sp>
          <p:nvSpPr>
            <p:cNvPr id="358" name="Freeform 23"/>
            <p:cNvSpPr/>
            <p:nvPr/>
          </p:nvSpPr>
          <p:spPr>
            <a:xfrm>
              <a:off x="11555640" y="5064840"/>
              <a:ext cx="5560200" cy="14040"/>
            </a:xfrm>
            <a:custGeom>
              <a:avLst/>
              <a:gdLst>
                <a:gd name="textAreaLeft" fmla="*/ 0 w 5560200"/>
                <a:gd name="textAreaRight" fmla="*/ 5560560 w 55602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7414260" h="19050">
                  <a:moveTo>
                    <a:pt x="0" y="0"/>
                  </a:moveTo>
                  <a:lnTo>
                    <a:pt x="7414260" y="0"/>
                  </a:lnTo>
                  <a:lnTo>
                    <a:pt x="741426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9" name="Group 24"/>
          <p:cNvGrpSpPr/>
          <p:nvPr/>
        </p:nvGrpSpPr>
        <p:grpSpPr>
          <a:xfrm>
            <a:off x="1171440" y="6165000"/>
            <a:ext cx="3971520" cy="14040"/>
            <a:chOff x="1171440" y="6165000"/>
            <a:chExt cx="3971520" cy="14040"/>
          </a:xfrm>
        </p:grpSpPr>
        <p:sp>
          <p:nvSpPr>
            <p:cNvPr id="360" name="Freeform 25"/>
            <p:cNvSpPr/>
            <p:nvPr/>
          </p:nvSpPr>
          <p:spPr>
            <a:xfrm>
              <a:off x="1171440" y="6165000"/>
              <a:ext cx="3971520" cy="14040"/>
            </a:xfrm>
            <a:custGeom>
              <a:avLst/>
              <a:gdLst>
                <a:gd name="textAreaLeft" fmla="*/ 0 w 3971520"/>
                <a:gd name="textAreaRight" fmla="*/ 3971880 w 39715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5295900" h="19050">
                  <a:moveTo>
                    <a:pt x="0" y="0"/>
                  </a:moveTo>
                  <a:lnTo>
                    <a:pt x="5295900" y="0"/>
                  </a:lnTo>
                  <a:lnTo>
                    <a:pt x="5295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1" name="Group 26"/>
          <p:cNvGrpSpPr/>
          <p:nvPr/>
        </p:nvGrpSpPr>
        <p:grpSpPr>
          <a:xfrm>
            <a:off x="5172120" y="6165000"/>
            <a:ext cx="6354720" cy="14040"/>
            <a:chOff x="5172120" y="6165000"/>
            <a:chExt cx="6354720" cy="14040"/>
          </a:xfrm>
        </p:grpSpPr>
        <p:sp>
          <p:nvSpPr>
            <p:cNvPr id="362" name="Freeform 27"/>
            <p:cNvSpPr/>
            <p:nvPr/>
          </p:nvSpPr>
          <p:spPr>
            <a:xfrm>
              <a:off x="5172120" y="6165000"/>
              <a:ext cx="6354720" cy="14040"/>
            </a:xfrm>
            <a:custGeom>
              <a:avLst/>
              <a:gdLst>
                <a:gd name="textAreaLeft" fmla="*/ 0 w 6354720"/>
                <a:gd name="textAreaRight" fmla="*/ 6355080 w 63547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8473440" h="19050">
                  <a:moveTo>
                    <a:pt x="0" y="0"/>
                  </a:moveTo>
                  <a:lnTo>
                    <a:pt x="8473440" y="0"/>
                  </a:lnTo>
                  <a:lnTo>
                    <a:pt x="84734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" name="Group 28"/>
          <p:cNvGrpSpPr/>
          <p:nvPr/>
        </p:nvGrpSpPr>
        <p:grpSpPr>
          <a:xfrm>
            <a:off x="11555640" y="6165000"/>
            <a:ext cx="5560200" cy="14040"/>
            <a:chOff x="11555640" y="6165000"/>
            <a:chExt cx="5560200" cy="14040"/>
          </a:xfrm>
        </p:grpSpPr>
        <p:sp>
          <p:nvSpPr>
            <p:cNvPr id="364" name="Freeform 29"/>
            <p:cNvSpPr/>
            <p:nvPr/>
          </p:nvSpPr>
          <p:spPr>
            <a:xfrm>
              <a:off x="11555640" y="6165000"/>
              <a:ext cx="5560200" cy="14040"/>
            </a:xfrm>
            <a:custGeom>
              <a:avLst/>
              <a:gdLst>
                <a:gd name="textAreaLeft" fmla="*/ 0 w 5560200"/>
                <a:gd name="textAreaRight" fmla="*/ 5560560 w 55602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7414260" h="19050">
                  <a:moveTo>
                    <a:pt x="0" y="0"/>
                  </a:moveTo>
                  <a:lnTo>
                    <a:pt x="7414260" y="0"/>
                  </a:lnTo>
                  <a:lnTo>
                    <a:pt x="741426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" name="Group 30"/>
          <p:cNvGrpSpPr/>
          <p:nvPr/>
        </p:nvGrpSpPr>
        <p:grpSpPr>
          <a:xfrm>
            <a:off x="1171440" y="7265160"/>
            <a:ext cx="3971520" cy="14040"/>
            <a:chOff x="1171440" y="7265160"/>
            <a:chExt cx="3971520" cy="14040"/>
          </a:xfrm>
        </p:grpSpPr>
        <p:sp>
          <p:nvSpPr>
            <p:cNvPr id="366" name="Freeform 31"/>
            <p:cNvSpPr/>
            <p:nvPr/>
          </p:nvSpPr>
          <p:spPr>
            <a:xfrm>
              <a:off x="1171440" y="7265160"/>
              <a:ext cx="3971520" cy="14040"/>
            </a:xfrm>
            <a:custGeom>
              <a:avLst/>
              <a:gdLst>
                <a:gd name="textAreaLeft" fmla="*/ 0 w 3971520"/>
                <a:gd name="textAreaRight" fmla="*/ 3971880 w 39715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5295900" h="19050">
                  <a:moveTo>
                    <a:pt x="0" y="0"/>
                  </a:moveTo>
                  <a:lnTo>
                    <a:pt x="5295900" y="0"/>
                  </a:lnTo>
                  <a:lnTo>
                    <a:pt x="5295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7" name="Group 32"/>
          <p:cNvGrpSpPr/>
          <p:nvPr/>
        </p:nvGrpSpPr>
        <p:grpSpPr>
          <a:xfrm>
            <a:off x="5172120" y="7265160"/>
            <a:ext cx="6354720" cy="14040"/>
            <a:chOff x="5172120" y="7265160"/>
            <a:chExt cx="6354720" cy="14040"/>
          </a:xfrm>
        </p:grpSpPr>
        <p:sp>
          <p:nvSpPr>
            <p:cNvPr id="368" name="Freeform 33"/>
            <p:cNvSpPr/>
            <p:nvPr/>
          </p:nvSpPr>
          <p:spPr>
            <a:xfrm>
              <a:off x="5172120" y="7265160"/>
              <a:ext cx="6354720" cy="14040"/>
            </a:xfrm>
            <a:custGeom>
              <a:avLst/>
              <a:gdLst>
                <a:gd name="textAreaLeft" fmla="*/ 0 w 6354720"/>
                <a:gd name="textAreaRight" fmla="*/ 6355080 w 635472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8473440" h="19050">
                  <a:moveTo>
                    <a:pt x="0" y="0"/>
                  </a:moveTo>
                  <a:lnTo>
                    <a:pt x="8473440" y="0"/>
                  </a:lnTo>
                  <a:lnTo>
                    <a:pt x="84734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" name="Group 34"/>
          <p:cNvGrpSpPr/>
          <p:nvPr/>
        </p:nvGrpSpPr>
        <p:grpSpPr>
          <a:xfrm>
            <a:off x="11555640" y="7265160"/>
            <a:ext cx="5560200" cy="14040"/>
            <a:chOff x="11555640" y="7265160"/>
            <a:chExt cx="5560200" cy="14040"/>
          </a:xfrm>
        </p:grpSpPr>
        <p:sp>
          <p:nvSpPr>
            <p:cNvPr id="370" name="Freeform 35"/>
            <p:cNvSpPr/>
            <p:nvPr/>
          </p:nvSpPr>
          <p:spPr>
            <a:xfrm>
              <a:off x="11555640" y="7265160"/>
              <a:ext cx="5560200" cy="14040"/>
            </a:xfrm>
            <a:custGeom>
              <a:avLst/>
              <a:gdLst>
                <a:gd name="textAreaLeft" fmla="*/ 0 w 5560200"/>
                <a:gd name="textAreaRight" fmla="*/ 5560560 w 5560200"/>
                <a:gd name="textAreaTop" fmla="*/ 0 h 14040"/>
                <a:gd name="textAreaBottom" fmla="*/ 14400 h 14040"/>
              </a:gdLst>
              <a:ahLst/>
              <a:rect l="textAreaLeft" t="textAreaTop" r="textAreaRight" b="textAreaBottom"/>
              <a:pathLst>
                <a:path w="7414260" h="19050">
                  <a:moveTo>
                    <a:pt x="0" y="0"/>
                  </a:moveTo>
                  <a:lnTo>
                    <a:pt x="7414260" y="0"/>
                  </a:lnTo>
                  <a:lnTo>
                    <a:pt x="741426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0600" bIns="-306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roup 2"/>
          <p:cNvGrpSpPr/>
          <p:nvPr/>
        </p:nvGrpSpPr>
        <p:grpSpPr>
          <a:xfrm>
            <a:off x="1143000" y="6360480"/>
            <a:ext cx="6857640" cy="1114200"/>
            <a:chOff x="1143000" y="6360480"/>
            <a:chExt cx="6857640" cy="1114200"/>
          </a:xfrm>
        </p:grpSpPr>
        <p:sp>
          <p:nvSpPr>
            <p:cNvPr id="372" name="Freeform 3"/>
            <p:cNvSpPr/>
            <p:nvPr/>
          </p:nvSpPr>
          <p:spPr>
            <a:xfrm>
              <a:off x="1143000" y="6360480"/>
              <a:ext cx="6857640" cy="1114200"/>
            </a:xfrm>
            <a:custGeom>
              <a:avLst/>
              <a:gdLst>
                <a:gd name="textAreaLeft" fmla="*/ 0 w 6857640"/>
                <a:gd name="textAreaRight" fmla="*/ 6858000 w 6857640"/>
                <a:gd name="textAreaTop" fmla="*/ 0 h 1114200"/>
                <a:gd name="textAreaBottom" fmla="*/ 1114560 h 1114200"/>
              </a:gdLst>
              <a:ahLst/>
              <a:rect l="textAreaLeft" t="textAreaTop" r="textAreaRight" b="textAreaBottom"/>
              <a:pathLst>
                <a:path w="9144000" h="1485900">
                  <a:moveTo>
                    <a:pt x="0" y="0"/>
                  </a:moveTo>
                  <a:lnTo>
                    <a:pt x="9144000" y="0"/>
                  </a:lnTo>
                  <a:lnTo>
                    <a:pt x="9144000" y="1485900"/>
                  </a:lnTo>
                  <a:lnTo>
                    <a:pt x="0" y="14859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3" name="TextBox 4"/>
          <p:cNvSpPr/>
          <p:nvPr/>
        </p:nvSpPr>
        <p:spPr>
          <a:xfrm>
            <a:off x="1143000" y="9215280"/>
            <a:ext cx="2613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21"/>
              </a:lnSpc>
            </a:pPr>
            <a:r>
              <a:rPr b="0" lang="en-US" sz="1350" spc="-1" strike="noStrike">
                <a:solidFill>
                  <a:srgbClr val="64748b"/>
                </a:solidFill>
                <a:latin typeface="Inter"/>
                <a:ea typeface="Inter"/>
              </a:rPr>
              <a:t>Orange Summer Challenge 2026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74" name="Group 5"/>
          <p:cNvGrpSpPr/>
          <p:nvPr/>
        </p:nvGrpSpPr>
        <p:grpSpPr>
          <a:xfrm>
            <a:off x="9144000" y="0"/>
            <a:ext cx="9143640" cy="10286640"/>
            <a:chOff x="9144000" y="0"/>
            <a:chExt cx="9143640" cy="10286640"/>
          </a:xfrm>
        </p:grpSpPr>
        <p:sp>
          <p:nvSpPr>
            <p:cNvPr id="375" name="Freeform 6"/>
            <p:cNvSpPr/>
            <p:nvPr/>
          </p:nvSpPr>
          <p:spPr>
            <a:xfrm>
              <a:off x="9144000" y="0"/>
              <a:ext cx="9143640" cy="10286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12192000" h="13716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6" name="TextBox 7"/>
          <p:cNvSpPr/>
          <p:nvPr/>
        </p:nvSpPr>
        <p:spPr>
          <a:xfrm>
            <a:off x="1428840" y="809640"/>
            <a:ext cx="571536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ffffff"/>
                </a:solidFill>
                <a:latin typeface="Poppins Bold"/>
                <a:ea typeface="Poppins Bold"/>
              </a:rPr>
              <a:t>L'Innovation par l'IA</a:t>
            </a:r>
            <a:endParaRPr b="0" lang="fr-FR" sz="42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8"/>
          <p:cNvSpPr/>
          <p:nvPr/>
        </p:nvSpPr>
        <p:spPr>
          <a:xfrm>
            <a:off x="1143000" y="3812040"/>
            <a:ext cx="720072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9"/>
              </a:lnSpc>
            </a:pPr>
            <a:r>
              <a:rPr b="1" lang="en-US" sz="2930" spc="-1" strike="noStrike">
                <a:solidFill>
                  <a:srgbClr val="ff6b00"/>
                </a:solidFill>
                <a:latin typeface="Poppins Bold"/>
                <a:ea typeface="Poppins Bold"/>
              </a:rPr>
              <a:t>Le moteur intelligent de croissance</a:t>
            </a:r>
            <a:endParaRPr b="0" lang="fr-FR" sz="29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9"/>
          <p:cNvSpPr/>
          <p:nvPr/>
        </p:nvSpPr>
        <p:spPr>
          <a:xfrm>
            <a:off x="1143000" y="4488480"/>
            <a:ext cx="6857640" cy="17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55"/>
              </a:lnSpc>
            </a:pPr>
            <a:r>
              <a:rPr b="0" lang="en-US" sz="1800" spc="-1" strike="noStrike">
                <a:solidFill>
                  <a:srgbClr val="cbd5e1"/>
                </a:solidFill>
                <a:latin typeface="Inter"/>
                <a:ea typeface="Inter"/>
              </a:rPr>
              <a:t>LocaTech AI ne se contente pas de numériser les processus. L'intelligence artificielle analyse en continu l'historique de vos locations pour transformer vos données passées en prévisions stratégiques.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79" name="Group 10"/>
          <p:cNvGrpSpPr/>
          <p:nvPr/>
        </p:nvGrpSpPr>
        <p:grpSpPr>
          <a:xfrm>
            <a:off x="1143000" y="934920"/>
            <a:ext cx="85320" cy="569520"/>
            <a:chOff x="1143000" y="934920"/>
            <a:chExt cx="85320" cy="569520"/>
          </a:xfrm>
        </p:grpSpPr>
        <p:sp>
          <p:nvSpPr>
            <p:cNvPr id="380" name="Freeform 11"/>
            <p:cNvSpPr/>
            <p:nvPr/>
          </p:nvSpPr>
          <p:spPr>
            <a:xfrm>
              <a:off x="1143000" y="93492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81" name="TextBox 12"/>
          <p:cNvSpPr/>
          <p:nvPr/>
        </p:nvSpPr>
        <p:spPr>
          <a:xfrm>
            <a:off x="1414440" y="6460560"/>
            <a:ext cx="6372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0"/>
              </a:lnSpc>
            </a:pPr>
            <a:r>
              <a:rPr b="0" lang="en-US" sz="1679" spc="-1" strike="noStrike">
                <a:solidFill>
                  <a:srgbClr val="ff6b00"/>
                </a:solidFill>
                <a:latin typeface="Inter"/>
                <a:ea typeface="Inter"/>
              </a:rPr>
              <a:t>Prévision prédictive de la demande &amp; Recommandations d'achats de stock.</a:t>
            </a:r>
            <a:endParaRPr b="0" lang="fr-FR" sz="1679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roup 2"/>
          <p:cNvGrpSpPr/>
          <p:nvPr/>
        </p:nvGrpSpPr>
        <p:grpSpPr>
          <a:xfrm>
            <a:off x="12573000" y="-2857680"/>
            <a:ext cx="7143480" cy="7143480"/>
            <a:chOff x="12573000" y="-2857680"/>
            <a:chExt cx="7143480" cy="7143480"/>
          </a:xfrm>
        </p:grpSpPr>
        <p:sp>
          <p:nvSpPr>
            <p:cNvPr id="383" name="Freeform 3"/>
            <p:cNvSpPr/>
            <p:nvPr/>
          </p:nvSpPr>
          <p:spPr>
            <a:xfrm>
              <a:off x="12573000" y="-2857680"/>
              <a:ext cx="7143480" cy="7143480"/>
            </a:xfrm>
            <a:custGeom>
              <a:avLst/>
              <a:gdLst>
                <a:gd name="textAreaLeft" fmla="*/ 0 w 7143480"/>
                <a:gd name="textAreaRight" fmla="*/ 7143840 w 7143480"/>
                <a:gd name="textAreaTop" fmla="*/ 0 h 7143480"/>
                <a:gd name="textAreaBottom" fmla="*/ 7143840 h 7143480"/>
              </a:gdLst>
              <a:ahLst/>
              <a:rect l="textAreaLeft" t="textAreaTop" r="textAreaRight" b="textAreaBottom"/>
              <a:pathLst>
                <a:path w="9525000" h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4" name="Group 4"/>
          <p:cNvGrpSpPr/>
          <p:nvPr/>
        </p:nvGrpSpPr>
        <p:grpSpPr>
          <a:xfrm>
            <a:off x="1143000" y="1957320"/>
            <a:ext cx="16001640" cy="7614720"/>
            <a:chOff x="1143000" y="1957320"/>
            <a:chExt cx="16001640" cy="7614720"/>
          </a:xfrm>
        </p:grpSpPr>
        <p:sp>
          <p:nvSpPr>
            <p:cNvPr id="385" name="Freeform 5"/>
            <p:cNvSpPr/>
            <p:nvPr/>
          </p:nvSpPr>
          <p:spPr>
            <a:xfrm>
              <a:off x="1143000" y="1957320"/>
              <a:ext cx="16001640" cy="7614720"/>
            </a:xfrm>
            <a:custGeom>
              <a:avLst/>
              <a:gdLst>
                <a:gd name="textAreaLeft" fmla="*/ 0 w 16001640"/>
                <a:gd name="textAreaRight" fmla="*/ 16002000 w 16001640"/>
                <a:gd name="textAreaTop" fmla="*/ 0 h 7614720"/>
                <a:gd name="textAreaBottom" fmla="*/ 7615080 h 7614720"/>
              </a:gdLst>
              <a:ahLst/>
              <a:rect l="textAreaLeft" t="textAreaTop" r="textAreaRight" b="textAreaBottom"/>
              <a:pathLst>
                <a:path w="21336000" h="10153650">
                  <a:moveTo>
                    <a:pt x="0" y="0"/>
                  </a:moveTo>
                  <a:lnTo>
                    <a:pt x="21336000" y="0"/>
                  </a:lnTo>
                  <a:lnTo>
                    <a:pt x="21336000" y="10153650"/>
                  </a:lnTo>
                  <a:lnTo>
                    <a:pt x="0" y="10153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6" name="TextBox 6"/>
          <p:cNvSpPr/>
          <p:nvPr/>
        </p:nvSpPr>
        <p:spPr>
          <a:xfrm>
            <a:off x="1428840" y="666720"/>
            <a:ext cx="681048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Impact Business &amp; KPIs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7" name="Group 7"/>
          <p:cNvGrpSpPr/>
          <p:nvPr/>
        </p:nvGrpSpPr>
        <p:grpSpPr>
          <a:xfrm>
            <a:off x="15016320" y="921600"/>
            <a:ext cx="2128320" cy="399600"/>
            <a:chOff x="15016320" y="921600"/>
            <a:chExt cx="2128320" cy="399600"/>
          </a:xfrm>
        </p:grpSpPr>
        <p:sp>
          <p:nvSpPr>
            <p:cNvPr id="388" name="Freeform 8"/>
            <p:cNvSpPr/>
            <p:nvPr/>
          </p:nvSpPr>
          <p:spPr>
            <a:xfrm>
              <a:off x="15016320" y="921600"/>
              <a:ext cx="2128320" cy="399600"/>
            </a:xfrm>
            <a:custGeom>
              <a:avLst/>
              <a:gdLst>
                <a:gd name="textAreaLeft" fmla="*/ 0 w 2128320"/>
                <a:gd name="textAreaRight" fmla="*/ 2128680 w 212832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2838450" h="533400">
                  <a:moveTo>
                    <a:pt x="0" y="0"/>
                  </a:moveTo>
                  <a:lnTo>
                    <a:pt x="2838450" y="0"/>
                  </a:lnTo>
                  <a:lnTo>
                    <a:pt x="28384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" name="Group 9"/>
          <p:cNvGrpSpPr/>
          <p:nvPr/>
        </p:nvGrpSpPr>
        <p:grpSpPr>
          <a:xfrm>
            <a:off x="1143000" y="751680"/>
            <a:ext cx="85320" cy="569520"/>
            <a:chOff x="1143000" y="751680"/>
            <a:chExt cx="85320" cy="569520"/>
          </a:xfrm>
        </p:grpSpPr>
        <p:sp>
          <p:nvSpPr>
            <p:cNvPr id="390" name="Freeform 10"/>
            <p:cNvSpPr/>
            <p:nvPr/>
          </p:nvSpPr>
          <p:spPr>
            <a:xfrm>
              <a:off x="1143000" y="75168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roup 2"/>
          <p:cNvGrpSpPr/>
          <p:nvPr/>
        </p:nvGrpSpPr>
        <p:grpSpPr>
          <a:xfrm>
            <a:off x="-1428840" y="6715080"/>
            <a:ext cx="5714640" cy="5714640"/>
            <a:chOff x="-1428840" y="6715080"/>
            <a:chExt cx="5714640" cy="5714640"/>
          </a:xfrm>
        </p:grpSpPr>
        <p:sp>
          <p:nvSpPr>
            <p:cNvPr id="392" name="Freeform 3"/>
            <p:cNvSpPr/>
            <p:nvPr/>
          </p:nvSpPr>
          <p:spPr>
            <a:xfrm>
              <a:off x="-1428840" y="6715080"/>
              <a:ext cx="5714640" cy="5714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5714640"/>
                <a:gd name="textAreaBottom" fmla="*/ 5715000 h 5714640"/>
              </a:gdLst>
              <a:ahLst/>
              <a:rect l="textAreaLeft" t="textAreaTop" r="textAreaRight" b="textAreaBottom"/>
              <a:pathLst>
                <a:path w="7620000" h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3" name="TextBox 4"/>
          <p:cNvSpPr/>
          <p:nvPr/>
        </p:nvSpPr>
        <p:spPr>
          <a:xfrm>
            <a:off x="1428840" y="666720"/>
            <a:ext cx="591048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Modèle Économique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4" name="Group 5"/>
          <p:cNvGrpSpPr/>
          <p:nvPr/>
        </p:nvGrpSpPr>
        <p:grpSpPr>
          <a:xfrm>
            <a:off x="14944680" y="921600"/>
            <a:ext cx="2199960" cy="399600"/>
            <a:chOff x="14944680" y="921600"/>
            <a:chExt cx="2199960" cy="399600"/>
          </a:xfrm>
        </p:grpSpPr>
        <p:sp>
          <p:nvSpPr>
            <p:cNvPr id="395" name="Freeform 6"/>
            <p:cNvSpPr/>
            <p:nvPr/>
          </p:nvSpPr>
          <p:spPr>
            <a:xfrm>
              <a:off x="14944680" y="921600"/>
              <a:ext cx="2199960" cy="399600"/>
            </a:xfrm>
            <a:custGeom>
              <a:avLst/>
              <a:gdLst>
                <a:gd name="textAreaLeft" fmla="*/ 0 w 2199960"/>
                <a:gd name="textAreaRight" fmla="*/ 2200320 w 219996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2933700" h="533400">
                  <a:moveTo>
                    <a:pt x="0" y="0"/>
                  </a:moveTo>
                  <a:lnTo>
                    <a:pt x="2933700" y="0"/>
                  </a:lnTo>
                  <a:lnTo>
                    <a:pt x="29337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6" name="Group 7"/>
          <p:cNvGrpSpPr/>
          <p:nvPr/>
        </p:nvGrpSpPr>
        <p:grpSpPr>
          <a:xfrm>
            <a:off x="1028880" y="751680"/>
            <a:ext cx="85320" cy="569520"/>
            <a:chOff x="1028880" y="751680"/>
            <a:chExt cx="85320" cy="569520"/>
          </a:xfrm>
        </p:grpSpPr>
        <p:sp>
          <p:nvSpPr>
            <p:cNvPr id="397" name="Freeform 8"/>
            <p:cNvSpPr/>
            <p:nvPr/>
          </p:nvSpPr>
          <p:spPr>
            <a:xfrm>
              <a:off x="1028880" y="75168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8" name="Group 9"/>
          <p:cNvGrpSpPr/>
          <p:nvPr/>
        </p:nvGrpSpPr>
        <p:grpSpPr>
          <a:xfrm>
            <a:off x="1500120" y="4661280"/>
            <a:ext cx="7350480" cy="2071440"/>
            <a:chOff x="1500120" y="4661280"/>
            <a:chExt cx="7350480" cy="2071440"/>
          </a:xfrm>
        </p:grpSpPr>
        <p:sp>
          <p:nvSpPr>
            <p:cNvPr id="399" name="TextBox 10"/>
            <p:cNvSpPr/>
            <p:nvPr/>
          </p:nvSpPr>
          <p:spPr>
            <a:xfrm>
              <a:off x="1500120" y="4661280"/>
              <a:ext cx="7350480" cy="3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971"/>
                </a:lnSpc>
              </a:pPr>
              <a:r>
                <a:rPr b="1" lang="en-US" sz="2470" spc="-1" strike="noStrike">
                  <a:solidFill>
                    <a:srgbClr val="ff6b00"/>
                  </a:solidFill>
                  <a:latin typeface="Poppins Bold"/>
                  <a:ea typeface="Poppins Bold"/>
                </a:rPr>
                <a:t>Abonnement SaaS Mensuel</a:t>
              </a:r>
              <a:endParaRPr b="0" lang="fr-FR" sz="247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TextBox 11"/>
            <p:cNvSpPr/>
            <p:nvPr/>
          </p:nvSpPr>
          <p:spPr>
            <a:xfrm>
              <a:off x="1996560" y="5354280"/>
              <a:ext cx="6357600" cy="3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36"/>
                </a:lnSpc>
              </a:pPr>
              <a:r>
                <a:rPr b="1" lang="en-US" sz="1679" spc="-1" strike="noStrike">
                  <a:solidFill>
                    <a:srgbClr val="334155"/>
                  </a:solidFill>
                  <a:latin typeface="Inter Bold"/>
                  <a:ea typeface="Inter Bold"/>
                </a:rPr>
                <a:t>Starter :</a:t>
              </a:r>
              <a:r>
                <a:rPr b="0" lang="en-US" sz="1679" spc="-1" strike="noStrike">
                  <a:solidFill>
                    <a:srgbClr val="334155"/>
                  </a:solidFill>
                  <a:latin typeface="Inter"/>
                  <a:ea typeface="Inter"/>
                </a:rPr>
                <a:t> 50 000 Ar/mois - Pour les indépendants.</a:t>
              </a:r>
              <a:endParaRPr b="0" lang="fr-FR" sz="167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1" name="TextBox 12"/>
            <p:cNvSpPr/>
            <p:nvPr/>
          </p:nvSpPr>
          <p:spPr>
            <a:xfrm>
              <a:off x="1996560" y="5847120"/>
              <a:ext cx="6357600" cy="3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36"/>
                </a:lnSpc>
              </a:pPr>
              <a:r>
                <a:rPr b="1" lang="en-US" sz="1679" spc="-1" strike="noStrike">
                  <a:solidFill>
                    <a:srgbClr val="334155"/>
                  </a:solidFill>
                  <a:latin typeface="Inter Bold"/>
                  <a:ea typeface="Inter Bold"/>
                </a:rPr>
                <a:t>PME :</a:t>
              </a:r>
              <a:r>
                <a:rPr b="0" lang="en-US" sz="1679" spc="-1" strike="noStrike">
                  <a:solidFill>
                    <a:srgbClr val="334155"/>
                  </a:solidFill>
                  <a:latin typeface="Inter"/>
                  <a:ea typeface="Inter"/>
                </a:rPr>
                <a:t> 80 000 Ar/mois - Volume d'équipements illimité.</a:t>
              </a:r>
              <a:endParaRPr b="0" lang="fr-FR" sz="167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TextBox 13"/>
            <p:cNvSpPr/>
            <p:nvPr/>
          </p:nvSpPr>
          <p:spPr>
            <a:xfrm>
              <a:off x="1996560" y="6339960"/>
              <a:ext cx="6357600" cy="38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036"/>
                </a:lnSpc>
              </a:pPr>
              <a:r>
                <a:rPr b="1" lang="en-US" sz="1679" spc="-1" strike="noStrike">
                  <a:solidFill>
                    <a:srgbClr val="334155"/>
                  </a:solidFill>
                  <a:latin typeface="Inter Bold"/>
                  <a:ea typeface="Inter Bold"/>
                </a:rPr>
                <a:t>Entreprise :</a:t>
              </a:r>
              <a:r>
                <a:rPr b="0" lang="en-US" sz="1679" spc="-1" strike="noStrike">
                  <a:solidFill>
                    <a:srgbClr val="334155"/>
                  </a:solidFill>
                  <a:latin typeface="Inter"/>
                  <a:ea typeface="Inter"/>
                </a:rPr>
                <a:t> Tarification sur mesure &amp; Support premium.</a:t>
              </a:r>
              <a:endParaRPr b="0" lang="fr-FR" sz="1679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03" name="Group 14"/>
            <p:cNvGrpSpPr/>
            <p:nvPr/>
          </p:nvGrpSpPr>
          <p:grpSpPr>
            <a:xfrm>
              <a:off x="1500120" y="5418360"/>
              <a:ext cx="199800" cy="328320"/>
              <a:chOff x="1500120" y="5418360"/>
              <a:chExt cx="199800" cy="328320"/>
            </a:xfrm>
          </p:grpSpPr>
          <p:sp>
            <p:nvSpPr>
              <p:cNvPr id="404" name="Freeform 15"/>
              <p:cNvSpPr/>
              <p:nvPr/>
            </p:nvSpPr>
            <p:spPr>
              <a:xfrm>
                <a:off x="1500120" y="5418360"/>
                <a:ext cx="199800" cy="32832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328320"/>
                  <a:gd name="textAreaBottom" fmla="*/ 328680 h 328320"/>
                </a:gdLst>
                <a:ahLst/>
                <a:rect l="textAreaLeft" t="textAreaTop" r="textAreaRight" b="textAreaBottom"/>
                <a:pathLst>
                  <a:path w="266700" h="438150">
                    <a:moveTo>
                      <a:pt x="0" y="0"/>
                    </a:moveTo>
                    <a:lnTo>
                      <a:pt x="266700" y="0"/>
                    </a:lnTo>
                    <a:lnTo>
                      <a:pt x="266700" y="438150"/>
                    </a:lnTo>
                    <a:lnTo>
                      <a:pt x="0" y="43815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3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05" name="Group 16"/>
            <p:cNvGrpSpPr/>
            <p:nvPr/>
          </p:nvGrpSpPr>
          <p:grpSpPr>
            <a:xfrm>
              <a:off x="1500120" y="5911560"/>
              <a:ext cx="199800" cy="328320"/>
              <a:chOff x="1500120" y="5911560"/>
              <a:chExt cx="199800" cy="328320"/>
            </a:xfrm>
          </p:grpSpPr>
          <p:sp>
            <p:nvSpPr>
              <p:cNvPr id="406" name="Freeform 17"/>
              <p:cNvSpPr/>
              <p:nvPr/>
            </p:nvSpPr>
            <p:spPr>
              <a:xfrm>
                <a:off x="1500120" y="5911560"/>
                <a:ext cx="199800" cy="32832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328320"/>
                  <a:gd name="textAreaBottom" fmla="*/ 328680 h 328320"/>
                </a:gdLst>
                <a:ahLst/>
                <a:rect l="textAreaLeft" t="textAreaTop" r="textAreaRight" b="textAreaBottom"/>
                <a:pathLst>
                  <a:path w="266700" h="438150">
                    <a:moveTo>
                      <a:pt x="0" y="0"/>
                    </a:moveTo>
                    <a:lnTo>
                      <a:pt x="266700" y="0"/>
                    </a:lnTo>
                    <a:lnTo>
                      <a:pt x="266700" y="438150"/>
                    </a:lnTo>
                    <a:lnTo>
                      <a:pt x="0" y="43815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4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07" name="Group 18"/>
            <p:cNvGrpSpPr/>
            <p:nvPr/>
          </p:nvGrpSpPr>
          <p:grpSpPr>
            <a:xfrm>
              <a:off x="1500120" y="6404400"/>
              <a:ext cx="199800" cy="328320"/>
              <a:chOff x="1500120" y="6404400"/>
              <a:chExt cx="199800" cy="328320"/>
            </a:xfrm>
          </p:grpSpPr>
          <p:sp>
            <p:nvSpPr>
              <p:cNvPr id="408" name="Freeform 19"/>
              <p:cNvSpPr/>
              <p:nvPr/>
            </p:nvSpPr>
            <p:spPr>
              <a:xfrm>
                <a:off x="1500120" y="6404400"/>
                <a:ext cx="199800" cy="32832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328320"/>
                  <a:gd name="textAreaBottom" fmla="*/ 328680 h 328320"/>
                </a:gdLst>
                <a:ahLst/>
                <a:rect l="textAreaLeft" t="textAreaTop" r="textAreaRight" b="textAreaBottom"/>
                <a:pathLst>
                  <a:path w="266700" h="438150">
                    <a:moveTo>
                      <a:pt x="0" y="0"/>
                    </a:moveTo>
                    <a:lnTo>
                      <a:pt x="266700" y="0"/>
                    </a:lnTo>
                    <a:lnTo>
                      <a:pt x="266700" y="438150"/>
                    </a:lnTo>
                    <a:lnTo>
                      <a:pt x="0" y="43815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roup 2"/>
          <p:cNvGrpSpPr/>
          <p:nvPr/>
        </p:nvGrpSpPr>
        <p:grpSpPr>
          <a:xfrm>
            <a:off x="12573000" y="-2857680"/>
            <a:ext cx="7143480" cy="7143480"/>
            <a:chOff x="12573000" y="-2857680"/>
            <a:chExt cx="7143480" cy="7143480"/>
          </a:xfrm>
        </p:grpSpPr>
        <p:sp>
          <p:nvSpPr>
            <p:cNvPr id="410" name="Freeform 3"/>
            <p:cNvSpPr/>
            <p:nvPr/>
          </p:nvSpPr>
          <p:spPr>
            <a:xfrm>
              <a:off x="12573000" y="-2857680"/>
              <a:ext cx="7143480" cy="7143480"/>
            </a:xfrm>
            <a:custGeom>
              <a:avLst/>
              <a:gdLst>
                <a:gd name="textAreaLeft" fmla="*/ 0 w 7143480"/>
                <a:gd name="textAreaRight" fmla="*/ 7143840 w 7143480"/>
                <a:gd name="textAreaTop" fmla="*/ 0 h 7143480"/>
                <a:gd name="textAreaBottom" fmla="*/ 7143840 h 7143480"/>
              </a:gdLst>
              <a:ahLst/>
              <a:rect l="textAreaLeft" t="textAreaTop" r="textAreaRight" b="textAreaBottom"/>
              <a:pathLst>
                <a:path w="9525000" h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1" name="Group 4"/>
          <p:cNvGrpSpPr/>
          <p:nvPr/>
        </p:nvGrpSpPr>
        <p:grpSpPr>
          <a:xfrm>
            <a:off x="9429840" y="4329000"/>
            <a:ext cx="7714800" cy="2871360"/>
            <a:chOff x="9429840" y="4329000"/>
            <a:chExt cx="7714800" cy="2871360"/>
          </a:xfrm>
        </p:grpSpPr>
        <p:sp>
          <p:nvSpPr>
            <p:cNvPr id="412" name="Freeform 5"/>
            <p:cNvSpPr/>
            <p:nvPr/>
          </p:nvSpPr>
          <p:spPr>
            <a:xfrm>
              <a:off x="9429840" y="4329000"/>
              <a:ext cx="7714800" cy="2871360"/>
            </a:xfrm>
            <a:custGeom>
              <a:avLst/>
              <a:gdLst>
                <a:gd name="textAreaLeft" fmla="*/ 0 w 7714800"/>
                <a:gd name="textAreaRight" fmla="*/ 7715160 w 7714800"/>
                <a:gd name="textAreaTop" fmla="*/ 0 h 2871360"/>
                <a:gd name="textAreaBottom" fmla="*/ 2871720 h 2871360"/>
              </a:gdLst>
              <a:ahLst/>
              <a:rect l="textAreaLeft" t="textAreaTop" r="textAreaRight" b="textAreaBottom"/>
              <a:pathLst>
                <a:path w="10287000" h="3829050">
                  <a:moveTo>
                    <a:pt x="0" y="0"/>
                  </a:moveTo>
                  <a:lnTo>
                    <a:pt x="10287000" y="0"/>
                  </a:lnTo>
                  <a:lnTo>
                    <a:pt x="10287000" y="3829050"/>
                  </a:lnTo>
                  <a:lnTo>
                    <a:pt x="0" y="38290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3" name="TextBox 6"/>
          <p:cNvSpPr/>
          <p:nvPr/>
        </p:nvSpPr>
        <p:spPr>
          <a:xfrm>
            <a:off x="1428840" y="666720"/>
            <a:ext cx="771048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131"/>
              </a:lnSpc>
            </a:pPr>
            <a:r>
              <a:rPr b="1" lang="en-US" sz="4270" spc="-1" strike="noStrike">
                <a:solidFill>
                  <a:srgbClr val="0f172a"/>
                </a:solidFill>
                <a:latin typeface="Poppins Bold"/>
                <a:ea typeface="Poppins Bold"/>
              </a:rPr>
              <a:t>Vision Future &amp; Innovation</a:t>
            </a:r>
            <a:endParaRPr b="0" lang="fr-FR" sz="42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4" name="Group 7"/>
          <p:cNvGrpSpPr/>
          <p:nvPr/>
        </p:nvGrpSpPr>
        <p:grpSpPr>
          <a:xfrm>
            <a:off x="15630480" y="921600"/>
            <a:ext cx="1514160" cy="399600"/>
            <a:chOff x="15630480" y="921600"/>
            <a:chExt cx="1514160" cy="399600"/>
          </a:xfrm>
        </p:grpSpPr>
        <p:sp>
          <p:nvSpPr>
            <p:cNvPr id="415" name="Freeform 8"/>
            <p:cNvSpPr/>
            <p:nvPr/>
          </p:nvSpPr>
          <p:spPr>
            <a:xfrm>
              <a:off x="15630480" y="921600"/>
              <a:ext cx="1514160" cy="399600"/>
            </a:xfrm>
            <a:custGeom>
              <a:avLst/>
              <a:gdLst>
                <a:gd name="textAreaLeft" fmla="*/ 0 w 1514160"/>
                <a:gd name="textAreaRight" fmla="*/ 1514520 w 1514160"/>
                <a:gd name="textAreaTop" fmla="*/ 0 h 399600"/>
                <a:gd name="textAreaBottom" fmla="*/ 399960 h 399600"/>
              </a:gdLst>
              <a:ahLst/>
              <a:rect l="textAreaLeft" t="textAreaTop" r="textAreaRight" b="textAreaBottom"/>
              <a:pathLst>
                <a:path w="2019300" h="533400">
                  <a:moveTo>
                    <a:pt x="0" y="0"/>
                  </a:moveTo>
                  <a:lnTo>
                    <a:pt x="2019300" y="0"/>
                  </a:lnTo>
                  <a:lnTo>
                    <a:pt x="20193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6" name="Group 9"/>
          <p:cNvGrpSpPr/>
          <p:nvPr/>
        </p:nvGrpSpPr>
        <p:grpSpPr>
          <a:xfrm>
            <a:off x="942840" y="751680"/>
            <a:ext cx="85320" cy="569520"/>
            <a:chOff x="942840" y="751680"/>
            <a:chExt cx="85320" cy="569520"/>
          </a:xfrm>
        </p:grpSpPr>
        <p:sp>
          <p:nvSpPr>
            <p:cNvPr id="417" name="Freeform 10"/>
            <p:cNvSpPr/>
            <p:nvPr/>
          </p:nvSpPr>
          <p:spPr>
            <a:xfrm>
              <a:off x="942840" y="751680"/>
              <a:ext cx="85320" cy="5695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569520"/>
                <a:gd name="textAreaBottom" fmla="*/ 569880 h 569520"/>
              </a:gdLst>
              <a:ahLst/>
              <a:rect l="textAreaLeft" t="textAreaTop" r="textAreaRight" b="textAreaBottom"/>
              <a:pathLst>
                <a:path w="114300" h="759968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lnTo>
                    <a:pt x="114300" y="702818"/>
                  </a:lnTo>
                  <a:cubicBezTo>
                    <a:pt x="114300" y="734441"/>
                    <a:pt x="88773" y="759968"/>
                    <a:pt x="57150" y="759968"/>
                  </a:cubicBezTo>
                  <a:cubicBezTo>
                    <a:pt x="25527" y="759968"/>
                    <a:pt x="0" y="734314"/>
                    <a:pt x="0" y="702818"/>
                  </a:cubicBezTo>
                  <a:close/>
                </a:path>
              </a:pathLst>
            </a:custGeom>
            <a:solidFill>
              <a:srgbClr val="ff6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18" name="TextBox 11"/>
          <p:cNvSpPr/>
          <p:nvPr/>
        </p:nvSpPr>
        <p:spPr>
          <a:xfrm>
            <a:off x="9686880" y="5572080"/>
            <a:ext cx="72007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701"/>
              </a:lnSpc>
            </a:pPr>
            <a:r>
              <a:rPr b="1" lang="en-US" sz="2250" spc="-1" strike="noStrike">
                <a:solidFill>
                  <a:srgbClr val="ffffff"/>
                </a:solidFill>
                <a:latin typeface="Poppins Bold"/>
                <a:ea typeface="Poppins Bold"/>
              </a:rPr>
              <a:t>Expansion Régionale</a:t>
            </a:r>
            <a:endParaRPr b="0" lang="fr-FR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12"/>
          <p:cNvSpPr/>
          <p:nvPr/>
        </p:nvSpPr>
        <p:spPr>
          <a:xfrm>
            <a:off x="9858240" y="6076800"/>
            <a:ext cx="6857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835"/>
              </a:lnSpc>
            </a:pPr>
            <a:r>
              <a:rPr b="0" lang="en-US" sz="1580" spc="-1" strike="noStrike">
                <a:solidFill>
                  <a:srgbClr val="94a3b8"/>
                </a:solidFill>
                <a:latin typeface="Inter"/>
                <a:ea typeface="Inter"/>
              </a:rPr>
              <a:t>Développer la plateforme à l'échelle nationale avant de conquérir d'autres marchés émergents et d'Afrique subsaharienne.</a:t>
            </a:r>
            <a:endParaRPr b="0" lang="fr-FR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13"/>
          <p:cNvSpPr/>
          <p:nvPr/>
        </p:nvSpPr>
        <p:spPr>
          <a:xfrm>
            <a:off x="1785960" y="3776760"/>
            <a:ext cx="7071840" cy="13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5"/>
              </a:lnSpc>
            </a:pPr>
            <a:r>
              <a:rPr b="1" lang="en-US" sz="2020" spc="-1" strike="noStrike">
                <a:solidFill>
                  <a:srgbClr val="334155"/>
                </a:solidFill>
                <a:latin typeface="Inter Bold"/>
                <a:ea typeface="Inter Bold"/>
              </a:rPr>
              <a:t>Canal Mobile &amp; WhatsApp :</a:t>
            </a:r>
            <a:r>
              <a:rPr b="0" lang="en-US" sz="2020" spc="-1" strike="noStrike">
                <a:solidFill>
                  <a:srgbClr val="334155"/>
                </a:solidFill>
                <a:latin typeface="Inter"/>
                <a:ea typeface="Inter"/>
              </a:rPr>
              <a:t> Notifications automatiques par WhatsApp API pour les alertes de retard et devis instantanés.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1785960" y="5276880"/>
            <a:ext cx="7071840" cy="9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5"/>
              </a:lnSpc>
            </a:pPr>
            <a:r>
              <a:rPr b="1" lang="en-US" sz="2020" spc="-1" strike="noStrike">
                <a:solidFill>
                  <a:srgbClr val="334155"/>
                </a:solidFill>
                <a:latin typeface="Inter Bold"/>
                <a:ea typeface="Inter Bold"/>
              </a:rPr>
              <a:t>Fintech &amp; Paiement mobile :</a:t>
            </a:r>
            <a:r>
              <a:rPr b="0" lang="en-US" sz="2020" spc="-1" strike="noStrike">
                <a:solidFill>
                  <a:srgbClr val="334155"/>
                </a:solidFill>
                <a:latin typeface="Inter"/>
                <a:ea typeface="Inter"/>
              </a:rPr>
              <a:t> Intégration directe de Mobile Money pour simplifier les transactions en Afrique.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15"/>
          <p:cNvSpPr/>
          <p:nvPr/>
        </p:nvSpPr>
        <p:spPr>
          <a:xfrm>
            <a:off x="1785960" y="6391440"/>
            <a:ext cx="7071840" cy="9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45"/>
              </a:lnSpc>
            </a:pPr>
            <a:r>
              <a:rPr b="1" lang="en-US" sz="2020" spc="-1" strike="noStrike">
                <a:solidFill>
                  <a:srgbClr val="334155"/>
                </a:solidFill>
                <a:latin typeface="Inter Bold"/>
                <a:ea typeface="Inter Bold"/>
              </a:rPr>
              <a:t>Signature électronique :</a:t>
            </a:r>
            <a:r>
              <a:rPr b="0" lang="en-US" sz="2020" spc="-1" strike="noStrike">
                <a:solidFill>
                  <a:srgbClr val="334155"/>
                </a:solidFill>
                <a:latin typeface="Inter"/>
                <a:ea typeface="Inter"/>
              </a:rPr>
              <a:t> Validation dématérialisée et certifiée des contrats de location de matériel.</a:t>
            </a:r>
            <a:endParaRPr b="0" lang="fr-FR" sz="202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3" name="Group 16"/>
          <p:cNvGrpSpPr/>
          <p:nvPr/>
        </p:nvGrpSpPr>
        <p:grpSpPr>
          <a:xfrm>
            <a:off x="13001760" y="4815000"/>
            <a:ext cx="571320" cy="571320"/>
            <a:chOff x="13001760" y="4815000"/>
            <a:chExt cx="571320" cy="571320"/>
          </a:xfrm>
        </p:grpSpPr>
        <p:sp>
          <p:nvSpPr>
            <p:cNvPr id="424" name="Freeform 17"/>
            <p:cNvSpPr/>
            <p:nvPr/>
          </p:nvSpPr>
          <p:spPr>
            <a:xfrm>
              <a:off x="13001760" y="4815000"/>
              <a:ext cx="571320" cy="571320"/>
            </a:xfrm>
            <a:custGeom>
              <a:avLst/>
              <a:gdLst>
                <a:gd name="textAreaLeft" fmla="*/ 0 w 571320"/>
                <a:gd name="textAreaRight" fmla="*/ 571680 w 571320"/>
                <a:gd name="textAreaTop" fmla="*/ 0 h 571320"/>
                <a:gd name="textAreaBottom" fmla="*/ 571680 h 571320"/>
              </a:gdLst>
              <a:ahLst/>
              <a:rect l="textAreaLeft" t="textAreaTop" r="textAreaRight" b="textAreaBottom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5" name="Group 18"/>
          <p:cNvGrpSpPr/>
          <p:nvPr/>
        </p:nvGrpSpPr>
        <p:grpSpPr>
          <a:xfrm>
            <a:off x="1143000" y="3950640"/>
            <a:ext cx="313920" cy="328320"/>
            <a:chOff x="1143000" y="3950640"/>
            <a:chExt cx="313920" cy="328320"/>
          </a:xfrm>
        </p:grpSpPr>
        <p:sp>
          <p:nvSpPr>
            <p:cNvPr id="426" name="Freeform 19"/>
            <p:cNvSpPr/>
            <p:nvPr/>
          </p:nvSpPr>
          <p:spPr>
            <a:xfrm>
              <a:off x="1143000" y="3950640"/>
              <a:ext cx="313920" cy="3283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7" name="Group 20"/>
          <p:cNvGrpSpPr/>
          <p:nvPr/>
        </p:nvGrpSpPr>
        <p:grpSpPr>
          <a:xfrm>
            <a:off x="1143000" y="5450760"/>
            <a:ext cx="313920" cy="328320"/>
            <a:chOff x="1143000" y="5450760"/>
            <a:chExt cx="313920" cy="328320"/>
          </a:xfrm>
        </p:grpSpPr>
        <p:sp>
          <p:nvSpPr>
            <p:cNvPr id="428" name="Freeform 21"/>
            <p:cNvSpPr/>
            <p:nvPr/>
          </p:nvSpPr>
          <p:spPr>
            <a:xfrm>
              <a:off x="1143000" y="5450760"/>
              <a:ext cx="313920" cy="3283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9" name="Group 22"/>
          <p:cNvGrpSpPr/>
          <p:nvPr/>
        </p:nvGrpSpPr>
        <p:grpSpPr>
          <a:xfrm>
            <a:off x="1143000" y="6564960"/>
            <a:ext cx="313920" cy="328320"/>
            <a:chOff x="1143000" y="6564960"/>
            <a:chExt cx="313920" cy="328320"/>
          </a:xfrm>
        </p:grpSpPr>
        <p:sp>
          <p:nvSpPr>
            <p:cNvPr id="430" name="Freeform 23"/>
            <p:cNvSpPr/>
            <p:nvPr/>
          </p:nvSpPr>
          <p:spPr>
            <a:xfrm>
              <a:off x="1143000" y="6564960"/>
              <a:ext cx="313920" cy="3283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28320"/>
                <a:gd name="textAreaBottom" fmla="*/ 328680 h 328320"/>
              </a:gdLst>
              <a:ahLst/>
              <a:rect l="textAreaLeft" t="textAreaTop" r="textAreaRight" b="textAreaBottom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roup 2"/>
          <p:cNvGrpSpPr/>
          <p:nvPr/>
        </p:nvGrpSpPr>
        <p:grpSpPr>
          <a:xfrm>
            <a:off x="12573000" y="-2857680"/>
            <a:ext cx="7143480" cy="7143480"/>
            <a:chOff x="12573000" y="-2857680"/>
            <a:chExt cx="7143480" cy="7143480"/>
          </a:xfrm>
        </p:grpSpPr>
        <p:sp>
          <p:nvSpPr>
            <p:cNvPr id="432" name="Freeform 3"/>
            <p:cNvSpPr/>
            <p:nvPr/>
          </p:nvSpPr>
          <p:spPr>
            <a:xfrm>
              <a:off x="12573000" y="-2857680"/>
              <a:ext cx="7143480" cy="7143480"/>
            </a:xfrm>
            <a:custGeom>
              <a:avLst/>
              <a:gdLst>
                <a:gd name="textAreaLeft" fmla="*/ 0 w 7143480"/>
                <a:gd name="textAreaRight" fmla="*/ 7143840 w 7143480"/>
                <a:gd name="textAreaTop" fmla="*/ 0 h 7143480"/>
                <a:gd name="textAreaBottom" fmla="*/ 7143840 h 7143480"/>
              </a:gdLst>
              <a:ahLst/>
              <a:rect l="textAreaLeft" t="textAreaTop" r="textAreaRight" b="textAreaBottom"/>
              <a:pathLst>
                <a:path w="9525000" h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3" name="Group 4"/>
          <p:cNvGrpSpPr/>
          <p:nvPr/>
        </p:nvGrpSpPr>
        <p:grpSpPr>
          <a:xfrm>
            <a:off x="-1428840" y="6715080"/>
            <a:ext cx="5714640" cy="5714640"/>
            <a:chOff x="-1428840" y="6715080"/>
            <a:chExt cx="5714640" cy="5714640"/>
          </a:xfrm>
        </p:grpSpPr>
        <p:sp>
          <p:nvSpPr>
            <p:cNvPr id="434" name="Freeform 5"/>
            <p:cNvSpPr/>
            <p:nvPr/>
          </p:nvSpPr>
          <p:spPr>
            <a:xfrm>
              <a:off x="-1428840" y="6715080"/>
              <a:ext cx="5714640" cy="5714640"/>
            </a:xfrm>
            <a:custGeom>
              <a:avLst/>
              <a:gdLst>
                <a:gd name="textAreaLeft" fmla="*/ 0 w 5714640"/>
                <a:gd name="textAreaRight" fmla="*/ 5715000 w 5714640"/>
                <a:gd name="textAreaTop" fmla="*/ 0 h 5714640"/>
                <a:gd name="textAreaBottom" fmla="*/ 5715000 h 5714640"/>
              </a:gdLst>
              <a:ahLst/>
              <a:rect l="textAreaLeft" t="textAreaTop" r="textAreaRight" b="textAreaBottom"/>
              <a:pathLst>
                <a:path w="7620000" h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35" name="TextBox 6"/>
          <p:cNvSpPr/>
          <p:nvPr/>
        </p:nvSpPr>
        <p:spPr>
          <a:xfrm>
            <a:off x="6946200" y="2821680"/>
            <a:ext cx="43952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80"/>
              </a:lnSpc>
            </a:pPr>
            <a:r>
              <a:rPr b="1" lang="en-US" sz="5400" spc="-1" strike="noStrike">
                <a:solidFill>
                  <a:srgbClr val="ff6b00"/>
                </a:solidFill>
                <a:latin typeface="Poppins Bold"/>
                <a:ea typeface="Poppins Bold"/>
              </a:rPr>
              <a:t>LocaTech AI</a:t>
            </a:r>
            <a:endParaRPr b="0" lang="fr-FR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Box 7"/>
          <p:cNvSpPr/>
          <p:nvPr/>
        </p:nvSpPr>
        <p:spPr>
          <a:xfrm>
            <a:off x="3171960" y="4041000"/>
            <a:ext cx="1194408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701"/>
              </a:lnSpc>
            </a:pPr>
            <a:r>
              <a:rPr b="0" lang="en-US" sz="2250" spc="-1" strike="noStrike">
                <a:solidFill>
                  <a:srgbClr val="94a3b8"/>
                </a:solidFill>
                <a:latin typeface="Inter"/>
                <a:ea typeface="Inter"/>
              </a:rPr>
              <a:t>La plateforme intelligente qui transforme la gestion de location de matériels en Afrique.</a:t>
            </a:r>
            <a:endParaRPr b="0" lang="fr-FR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8"/>
          <p:cNvSpPr/>
          <p:nvPr/>
        </p:nvSpPr>
        <p:spPr>
          <a:xfrm>
            <a:off x="1655640" y="4955400"/>
            <a:ext cx="14976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971"/>
              </a:lnSpc>
            </a:pPr>
            <a:r>
              <a:rPr b="1" lang="en-US" sz="2470" spc="-1" strike="noStrike">
                <a:solidFill>
                  <a:srgbClr val="ffffff"/>
                </a:solidFill>
                <a:latin typeface="Inter Medium"/>
                <a:ea typeface="Inter Medium"/>
              </a:rPr>
              <a:t>Devenir la plateforme de référence de gestion de location de matériels à Madagascar puis en Afrique.</a:t>
            </a:r>
            <a:endParaRPr b="0" lang="fr-FR" sz="247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38" name="Group 9"/>
          <p:cNvGrpSpPr/>
          <p:nvPr/>
        </p:nvGrpSpPr>
        <p:grpSpPr>
          <a:xfrm>
            <a:off x="5067000" y="6136560"/>
            <a:ext cx="342720" cy="342720"/>
            <a:chOff x="5067000" y="6136560"/>
            <a:chExt cx="342720" cy="342720"/>
          </a:xfrm>
        </p:grpSpPr>
        <p:sp>
          <p:nvSpPr>
            <p:cNvPr id="439" name="Freeform 10"/>
            <p:cNvSpPr/>
            <p:nvPr/>
          </p:nvSpPr>
          <p:spPr>
            <a:xfrm>
              <a:off x="5067000" y="6136560"/>
              <a:ext cx="342720" cy="3427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0" name="TextBox 11"/>
          <p:cNvSpPr/>
          <p:nvPr/>
        </p:nvSpPr>
        <p:spPr>
          <a:xfrm>
            <a:off x="3896640" y="6622200"/>
            <a:ext cx="29433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888"/>
              </a:lnSpc>
            </a:pPr>
            <a:r>
              <a:rPr b="0" lang="en-US" sz="1580" spc="-1" strike="noStrike">
                <a:solidFill>
                  <a:srgbClr val="e2e8f0"/>
                </a:solidFill>
                <a:latin typeface="Inter"/>
                <a:ea typeface="Inter"/>
              </a:rPr>
              <a:t>fehizoro@rakotoarinosy.com</a:t>
            </a:r>
            <a:endParaRPr b="0" lang="fr-FR" sz="15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1" name="Group 12"/>
          <p:cNvGrpSpPr/>
          <p:nvPr/>
        </p:nvGrpSpPr>
        <p:grpSpPr>
          <a:xfrm>
            <a:off x="8979480" y="6136560"/>
            <a:ext cx="328320" cy="342720"/>
            <a:chOff x="8979480" y="6136560"/>
            <a:chExt cx="328320" cy="342720"/>
          </a:xfrm>
        </p:grpSpPr>
        <p:sp>
          <p:nvSpPr>
            <p:cNvPr id="442" name="Freeform 13"/>
            <p:cNvSpPr/>
            <p:nvPr/>
          </p:nvSpPr>
          <p:spPr>
            <a:xfrm>
              <a:off x="8979480" y="6136560"/>
              <a:ext cx="328320" cy="342720"/>
            </a:xfrm>
            <a:custGeom>
              <a:avLst/>
              <a:gdLst>
                <a:gd name="textAreaLeft" fmla="*/ 0 w 328320"/>
                <a:gd name="textAreaRight" fmla="*/ 328680 w 32832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438150" h="457200">
                  <a:moveTo>
                    <a:pt x="0" y="0"/>
                  </a:moveTo>
                  <a:lnTo>
                    <a:pt x="438150" y="0"/>
                  </a:lnTo>
                  <a:lnTo>
                    <a:pt x="4381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3" name="TextBox 14"/>
          <p:cNvSpPr/>
          <p:nvPr/>
        </p:nvSpPr>
        <p:spPr>
          <a:xfrm>
            <a:off x="7925040" y="6622200"/>
            <a:ext cx="25149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888"/>
              </a:lnSpc>
            </a:pPr>
            <a:r>
              <a:rPr b="0" lang="en-US" sz="1580" spc="-1" strike="noStrike">
                <a:solidFill>
                  <a:srgbClr val="e2e8f0"/>
                </a:solidFill>
                <a:latin typeface="Inter"/>
                <a:ea typeface="Inter"/>
              </a:rPr>
              <a:t>github.com/Rakotoarinosy</a:t>
            </a:r>
            <a:endParaRPr b="0" lang="fr-FR" sz="158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4" name="Group 15"/>
          <p:cNvGrpSpPr/>
          <p:nvPr/>
        </p:nvGrpSpPr>
        <p:grpSpPr>
          <a:xfrm>
            <a:off x="13177080" y="6120000"/>
            <a:ext cx="256680" cy="342720"/>
            <a:chOff x="13177080" y="6120000"/>
            <a:chExt cx="256680" cy="342720"/>
          </a:xfrm>
        </p:grpSpPr>
        <p:sp>
          <p:nvSpPr>
            <p:cNvPr id="445" name="Freeform 16"/>
            <p:cNvSpPr/>
            <p:nvPr/>
          </p:nvSpPr>
          <p:spPr>
            <a:xfrm>
              <a:off x="13177080" y="6120000"/>
              <a:ext cx="256680" cy="3427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342900" h="4572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6" name="TextBox 17"/>
          <p:cNvSpPr/>
          <p:nvPr/>
        </p:nvSpPr>
        <p:spPr>
          <a:xfrm>
            <a:off x="11539440" y="6622200"/>
            <a:ext cx="3760560" cy="2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888"/>
              </a:lnSpc>
            </a:pPr>
            <a:r>
              <a:rPr b="0" lang="en-US" sz="1580" spc="-1" strike="noStrike">
                <a:solidFill>
                  <a:srgbClr val="e2e8f0"/>
                </a:solidFill>
                <a:latin typeface="Inter"/>
                <a:ea typeface="Inter"/>
              </a:rPr>
              <a:t>Orange Digital Center Madagascar</a:t>
            </a:r>
            <a:endParaRPr b="0" lang="fr-FR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Box 18"/>
          <p:cNvSpPr/>
          <p:nvPr/>
        </p:nvSpPr>
        <p:spPr>
          <a:xfrm>
            <a:off x="1143000" y="9215280"/>
            <a:ext cx="2613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21"/>
              </a:lnSpc>
            </a:pPr>
            <a:r>
              <a:rPr b="0" lang="en-US" sz="1350" spc="-1" strike="noStrike">
                <a:solidFill>
                  <a:srgbClr val="64748b"/>
                </a:solidFill>
                <a:latin typeface="Inter"/>
                <a:ea typeface="Inter"/>
              </a:rPr>
              <a:t>Orange Summer Challenge 2026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DAHNRaRzKFw</dc:identifier>
  <dc:language>fr-FR</dc:language>
  <cp:lastModifiedBy/>
  <dcterms:modified xsi:type="dcterms:W3CDTF">2026-06-22T10:36:48Z</dcterms:modified>
  <cp:revision>2</cp:revision>
  <dc:subject/>
  <dc:title>LocaTech AI - Pitch Deck Orange Summer Challenge.pptx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